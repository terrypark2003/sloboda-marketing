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67" r:id="rId1"/>
    <p:sldMasterId id="2147483738" r:id="rId2"/>
  </p:sldMasterIdLst>
  <p:notesMasterIdLst>
    <p:notesMasterId r:id="rId7"/>
  </p:notesMasterIdLst>
  <p:handoutMasterIdLst>
    <p:handoutMasterId r:id="rId8"/>
  </p:handoutMasterIdLst>
  <p:sldIdLst>
    <p:sldId id="4481" r:id="rId3"/>
    <p:sldId id="4486" r:id="rId4"/>
    <p:sldId id="4488" r:id="rId5"/>
    <p:sldId id="4492" r:id="rId14"/>
    <p:sldId id="4491" r:id="rId6"/>
    <p:sldId id="4493" r:id="rId15"/>
    <p:sldId id="4494" r:id="rId16"/>
    <p:sldId id="4495" r:id="rId17"/>
  </p:sldIdLst>
  <p:sldSz cx="9144000" cy="5143500" type="screen16x9"/>
  <p:notesSz cx="6797675" cy="9926638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sz="900" kern="1200">
        <a:solidFill>
          <a:schemeClr val="tx1"/>
        </a:solidFill>
        <a:latin typeface="JBold" pitchFamily="18" charset="-127"/>
        <a:ea typeface="JBold" pitchFamily="18" charset="-127"/>
        <a:cs typeface="+mn-cs"/>
      </a:defRPr>
    </a:lvl1pPr>
    <a:lvl2pPr marL="342900" algn="l" rtl="0" fontAlgn="base" latinLnBrk="1">
      <a:spcBef>
        <a:spcPct val="0"/>
      </a:spcBef>
      <a:spcAft>
        <a:spcPct val="0"/>
      </a:spcAft>
      <a:defRPr kumimoji="1" sz="900" kern="1200">
        <a:solidFill>
          <a:schemeClr val="tx1"/>
        </a:solidFill>
        <a:latin typeface="JBold" pitchFamily="18" charset="-127"/>
        <a:ea typeface="JBold" pitchFamily="18" charset="-127"/>
        <a:cs typeface="+mn-cs"/>
      </a:defRPr>
    </a:lvl2pPr>
    <a:lvl3pPr marL="685800" algn="l" rtl="0" fontAlgn="base" latinLnBrk="1">
      <a:spcBef>
        <a:spcPct val="0"/>
      </a:spcBef>
      <a:spcAft>
        <a:spcPct val="0"/>
      </a:spcAft>
      <a:defRPr kumimoji="1" sz="900" kern="1200">
        <a:solidFill>
          <a:schemeClr val="tx1"/>
        </a:solidFill>
        <a:latin typeface="JBold" pitchFamily="18" charset="-127"/>
        <a:ea typeface="JBold" pitchFamily="18" charset="-127"/>
        <a:cs typeface="+mn-cs"/>
      </a:defRPr>
    </a:lvl3pPr>
    <a:lvl4pPr marL="1028700" algn="l" rtl="0" fontAlgn="base" latinLnBrk="1">
      <a:spcBef>
        <a:spcPct val="0"/>
      </a:spcBef>
      <a:spcAft>
        <a:spcPct val="0"/>
      </a:spcAft>
      <a:defRPr kumimoji="1" sz="900" kern="1200">
        <a:solidFill>
          <a:schemeClr val="tx1"/>
        </a:solidFill>
        <a:latin typeface="JBold" pitchFamily="18" charset="-127"/>
        <a:ea typeface="JBold" pitchFamily="18" charset="-127"/>
        <a:cs typeface="+mn-cs"/>
      </a:defRPr>
    </a:lvl4pPr>
    <a:lvl5pPr marL="1371600" algn="l" rtl="0" fontAlgn="base" latinLnBrk="1">
      <a:spcBef>
        <a:spcPct val="0"/>
      </a:spcBef>
      <a:spcAft>
        <a:spcPct val="0"/>
      </a:spcAft>
      <a:defRPr kumimoji="1" sz="900" kern="1200">
        <a:solidFill>
          <a:schemeClr val="tx1"/>
        </a:solidFill>
        <a:latin typeface="JBold" pitchFamily="18" charset="-127"/>
        <a:ea typeface="JBold" pitchFamily="18" charset="-127"/>
        <a:cs typeface="+mn-cs"/>
      </a:defRPr>
    </a:lvl5pPr>
    <a:lvl6pPr marL="1714500" algn="l" defTabSz="685800" rtl="0" eaLnBrk="1" latinLnBrk="1" hangingPunct="1">
      <a:defRPr kumimoji="1" sz="900" kern="1200">
        <a:solidFill>
          <a:schemeClr val="tx1"/>
        </a:solidFill>
        <a:latin typeface="JBold" pitchFamily="18" charset="-127"/>
        <a:ea typeface="JBold" pitchFamily="18" charset="-127"/>
        <a:cs typeface="+mn-cs"/>
      </a:defRPr>
    </a:lvl6pPr>
    <a:lvl7pPr marL="2057400" algn="l" defTabSz="685800" rtl="0" eaLnBrk="1" latinLnBrk="1" hangingPunct="1">
      <a:defRPr kumimoji="1" sz="900" kern="1200">
        <a:solidFill>
          <a:schemeClr val="tx1"/>
        </a:solidFill>
        <a:latin typeface="JBold" pitchFamily="18" charset="-127"/>
        <a:ea typeface="JBold" pitchFamily="18" charset="-127"/>
        <a:cs typeface="+mn-cs"/>
      </a:defRPr>
    </a:lvl7pPr>
    <a:lvl8pPr marL="2400300" algn="l" defTabSz="685800" rtl="0" eaLnBrk="1" latinLnBrk="1" hangingPunct="1">
      <a:defRPr kumimoji="1" sz="900" kern="1200">
        <a:solidFill>
          <a:schemeClr val="tx1"/>
        </a:solidFill>
        <a:latin typeface="JBold" pitchFamily="18" charset="-127"/>
        <a:ea typeface="JBold" pitchFamily="18" charset="-127"/>
        <a:cs typeface="+mn-cs"/>
      </a:defRPr>
    </a:lvl8pPr>
    <a:lvl9pPr marL="2743200" algn="l" defTabSz="685800" rtl="0" eaLnBrk="1" latinLnBrk="1" hangingPunct="1">
      <a:defRPr kumimoji="1" sz="900" kern="1200">
        <a:solidFill>
          <a:schemeClr val="tx1"/>
        </a:solidFill>
        <a:latin typeface="JBold" pitchFamily="18" charset="-127"/>
        <a:ea typeface="JBold" pitchFamily="18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2880" userDrawn="1">
          <p15:clr>
            <a:srgbClr val="A4A3A4"/>
          </p15:clr>
        </p15:guide>
        <p15:guide id="3" orient="horz" pos="3024" userDrawn="1">
          <p15:clr>
            <a:srgbClr val="A4A3A4"/>
          </p15:clr>
        </p15:guide>
        <p15:guide id="8" orient="horz" pos="2126" userDrawn="1">
          <p15:clr>
            <a:srgbClr val="A4A3A4"/>
          </p15:clr>
        </p15:guide>
        <p15:guide id="16" orient="horz" pos="590" userDrawn="1">
          <p15:clr>
            <a:srgbClr val="A4A3A4"/>
          </p15:clr>
        </p15:guide>
        <p15:guide id="17" orient="horz" pos="667" userDrawn="1">
          <p15:clr>
            <a:srgbClr val="A4A3A4"/>
          </p15:clr>
        </p15:guide>
        <p15:guide id="19" pos="204" userDrawn="1">
          <p15:clr>
            <a:srgbClr val="A4A3A4"/>
          </p15:clr>
        </p15:guide>
        <p15:guide id="20" pos="1973" userDrawn="1">
          <p15:clr>
            <a:srgbClr val="A4A3A4"/>
          </p15:clr>
        </p15:guide>
        <p15:guide id="21" pos="5556" userDrawn="1">
          <p15:clr>
            <a:srgbClr val="A4A3A4"/>
          </p15:clr>
        </p15:guide>
        <p15:guide id="23" pos="378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6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강경희님" initials="강" lastIdx="1" clrIdx="0">
    <p:extLst>
      <p:ext uri="{19B8F6BF-5375-455C-9EA6-DF929625EA0E}">
        <p15:presenceInfo xmlns:p15="http://schemas.microsoft.com/office/powerpoint/2012/main" userId="S-1-5-21-2783917799-474850514-1677858847-100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48235"/>
    <a:srgbClr val="66B826"/>
    <a:srgbClr val="FFFFFF"/>
    <a:srgbClr val="D9D9D9"/>
    <a:srgbClr val="4B4BFF"/>
    <a:srgbClr val="0000FF"/>
    <a:srgbClr val="2E005C"/>
    <a:srgbClr val="430086"/>
    <a:srgbClr val="93C571"/>
    <a:srgbClr val="00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636" autoAdjust="0"/>
    <p:restoredTop sz="95078" autoAdjust="0"/>
  </p:normalViewPr>
  <p:slideViewPr>
    <p:cSldViewPr>
      <p:cViewPr varScale="1">
        <p:scale>
          <a:sx n="111" d="100"/>
          <a:sy n="111" d="100"/>
        </p:scale>
        <p:origin x="108" y="432"/>
      </p:cViewPr>
      <p:guideLst>
        <p:guide pos="2880"/>
        <p:guide orient="horz" pos="3024"/>
        <p:guide orient="horz" pos="2126"/>
        <p:guide orient="horz" pos="590"/>
        <p:guide orient="horz" pos="667"/>
        <p:guide pos="204"/>
        <p:guide pos="1973"/>
        <p:guide pos="5556"/>
        <p:guide pos="378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howGuides="1">
      <p:cViewPr varScale="1">
        <p:scale>
          <a:sx n="62" d="100"/>
          <a:sy n="62" d="100"/>
        </p:scale>
        <p:origin x="2467" y="62"/>
      </p:cViewPr>
      <p:guideLst>
        <p:guide orient="horz" pos="3126"/>
        <p:guide pos="2141"/>
      </p:guideLst>
    </p:cSldViewPr>
  </p:notesViewPr>
  <p:gridSpacing cx="72010" cy="7201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notesMaster" Target="notesMasters/notesMaster1.xml"/><Relationship Id="rId8" Type="http://schemas.openxmlformats.org/officeDocument/2006/relationships/handoutMaster" Target="handoutMasters/handoutMaster1.xml"/><Relationship Id="rId9" Type="http://schemas.openxmlformats.org/officeDocument/2006/relationships/commentAuthors" Target="commentAuthors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2"/>
            <a:ext cx="2945862" cy="497333"/>
          </a:xfrm>
          <a:prstGeom prst="rect">
            <a:avLst/>
          </a:prstGeom>
        </p:spPr>
        <p:txBody>
          <a:bodyPr vert="horz" lIns="91422" tIns="45712" rIns="91422" bIns="45712" rtlCol="0"/>
          <a:lstStyle>
            <a:lvl1pPr algn="l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0294" y="2"/>
            <a:ext cx="2945862" cy="497333"/>
          </a:xfrm>
          <a:prstGeom prst="rect">
            <a:avLst/>
          </a:prstGeom>
        </p:spPr>
        <p:txBody>
          <a:bodyPr vert="horz" lIns="91422" tIns="45712" rIns="91422" bIns="45712" rtlCol="0"/>
          <a:lstStyle>
            <a:lvl1pPr algn="r">
              <a:defRPr sz="1200"/>
            </a:lvl1pPr>
          </a:lstStyle>
          <a:p>
            <a:pPr>
              <a:defRPr/>
            </a:pPr>
            <a:fld id="{0C213F7E-07E5-4543-AE8F-54DE08C50692}" type="datetimeFigureOut">
              <a:rPr lang="ko-KR" altLang="en-US"/>
              <a:pPr>
                <a:defRPr/>
              </a:pPr>
              <a:t>2026-06-10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27766"/>
            <a:ext cx="2945862" cy="497332"/>
          </a:xfrm>
          <a:prstGeom prst="rect">
            <a:avLst/>
          </a:prstGeom>
        </p:spPr>
        <p:txBody>
          <a:bodyPr vert="horz" lIns="91422" tIns="45712" rIns="91422" bIns="45712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0294" y="9427766"/>
            <a:ext cx="2945862" cy="497332"/>
          </a:xfrm>
          <a:prstGeom prst="rect">
            <a:avLst/>
          </a:prstGeom>
        </p:spPr>
        <p:txBody>
          <a:bodyPr vert="horz" lIns="91422" tIns="45712" rIns="91422" bIns="45712" rtlCol="0" anchor="b"/>
          <a:lstStyle>
            <a:lvl1pPr algn="r">
              <a:defRPr sz="1200"/>
            </a:lvl1pPr>
          </a:lstStyle>
          <a:p>
            <a:pPr>
              <a:defRPr/>
            </a:pPr>
            <a:fld id="{018C5E53-592E-42B4-A77C-AEDFD1303F06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977756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D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2"/>
            <a:ext cx="2945862" cy="4973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22" tIns="45712" rIns="91422" bIns="45712" numCol="1" anchor="t" anchorCtr="0" compatLnSpc="1">
            <a:prstTxWarp prst="textNoShape">
              <a:avLst/>
            </a:prstTxWarp>
          </a:bodyPr>
          <a:lstStyle>
            <a:lvl1pPr algn="l">
              <a:lnSpc>
                <a:spcPct val="100000"/>
              </a:lnSpc>
              <a:buFontTx/>
              <a:buNone/>
              <a:defRPr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861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0294" y="2"/>
            <a:ext cx="2945862" cy="4973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22" tIns="45712" rIns="91422" bIns="45712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buFontTx/>
              <a:buNone/>
              <a:defRPr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53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2075" y="746125"/>
            <a:ext cx="6613525" cy="37211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861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464" y="4716194"/>
            <a:ext cx="5438748" cy="4465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22" tIns="45712" rIns="91422" bIns="4571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233400932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900" kern="1200">
        <a:solidFill>
          <a:schemeClr val="tx1"/>
        </a:solidFill>
        <a:latin typeface="굴림" charset="-127"/>
        <a:ea typeface="굴림" charset="-127"/>
        <a:cs typeface="+mn-cs"/>
      </a:defRPr>
    </a:lvl1pPr>
    <a:lvl2pPr marL="342900" algn="l" rtl="0" eaLnBrk="0" fontAlgn="base" latinLnBrk="1" hangingPunct="0">
      <a:spcBef>
        <a:spcPct val="30000"/>
      </a:spcBef>
      <a:spcAft>
        <a:spcPct val="0"/>
      </a:spcAft>
      <a:defRPr kumimoji="1" sz="900" kern="1200">
        <a:solidFill>
          <a:schemeClr val="tx1"/>
        </a:solidFill>
        <a:latin typeface="굴림" charset="-127"/>
        <a:ea typeface="굴림" charset="-127"/>
        <a:cs typeface="+mn-cs"/>
      </a:defRPr>
    </a:lvl2pPr>
    <a:lvl3pPr marL="685800" algn="l" rtl="0" eaLnBrk="0" fontAlgn="base" latinLnBrk="1" hangingPunct="0">
      <a:spcBef>
        <a:spcPct val="30000"/>
      </a:spcBef>
      <a:spcAft>
        <a:spcPct val="0"/>
      </a:spcAft>
      <a:defRPr kumimoji="1" sz="900" kern="1200">
        <a:solidFill>
          <a:schemeClr val="tx1"/>
        </a:solidFill>
        <a:latin typeface="굴림" charset="-127"/>
        <a:ea typeface="굴림" charset="-127"/>
        <a:cs typeface="+mn-cs"/>
      </a:defRPr>
    </a:lvl3pPr>
    <a:lvl4pPr marL="1028700" algn="l" rtl="0" eaLnBrk="0" fontAlgn="base" latinLnBrk="1" hangingPunct="0">
      <a:spcBef>
        <a:spcPct val="30000"/>
      </a:spcBef>
      <a:spcAft>
        <a:spcPct val="0"/>
      </a:spcAft>
      <a:defRPr kumimoji="1" sz="900" kern="1200">
        <a:solidFill>
          <a:schemeClr val="tx1"/>
        </a:solidFill>
        <a:latin typeface="굴림" charset="-127"/>
        <a:ea typeface="굴림" charset="-127"/>
        <a:cs typeface="+mn-cs"/>
      </a:defRPr>
    </a:lvl4pPr>
    <a:lvl5pPr marL="1371600" algn="l" rtl="0" eaLnBrk="0" fontAlgn="base" latinLnBrk="1" hangingPunct="0">
      <a:spcBef>
        <a:spcPct val="30000"/>
      </a:spcBef>
      <a:spcAft>
        <a:spcPct val="0"/>
      </a:spcAft>
      <a:defRPr kumimoji="1" sz="900" kern="1200">
        <a:solidFill>
          <a:schemeClr val="tx1"/>
        </a:solidFill>
        <a:latin typeface="굴림" charset="-127"/>
        <a:ea typeface="굴림" charset="-127"/>
        <a:cs typeface="+mn-cs"/>
      </a:defRPr>
    </a:lvl5pPr>
    <a:lvl6pPr marL="1714500" algn="l" defTabSz="685800" rtl="0" eaLnBrk="1" latinLnBrk="1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1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1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1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98022600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6"/>
          <p:cNvGrpSpPr>
            <a:grpSpLocks/>
          </p:cNvGrpSpPr>
          <p:nvPr userDrawn="1"/>
        </p:nvGrpSpPr>
        <p:grpSpPr bwMode="auto">
          <a:xfrm>
            <a:off x="7097114" y="400468"/>
            <a:ext cx="1728788" cy="207962"/>
            <a:chOff x="4865" y="303"/>
            <a:chExt cx="1089" cy="131"/>
          </a:xfrm>
        </p:grpSpPr>
        <p:sp>
          <p:nvSpPr>
            <p:cNvPr id="5" name="Text Box 6"/>
            <p:cNvSpPr txBox="1">
              <a:spLocks noChangeArrowheads="1"/>
            </p:cNvSpPr>
            <p:nvPr/>
          </p:nvSpPr>
          <p:spPr bwMode="auto">
            <a:xfrm>
              <a:off x="5065" y="305"/>
              <a:ext cx="714" cy="1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 anchor="ctr">
              <a:spAutoFit/>
            </a:bodyPr>
            <a:lstStyle/>
            <a:p>
              <a:pPr algn="ctr" eaLnBrk="0" fontAlgn="ctr" latinLnBrk="0" hangingPunct="0">
                <a:spcBef>
                  <a:spcPct val="50000"/>
                </a:spcBef>
                <a:buFont typeface="Arial" charset="0"/>
                <a:buNone/>
                <a:defRPr/>
              </a:pPr>
              <a:r>
                <a:rPr lang="en-US" altLang="ko-KR" sz="750" i="1" dirty="0">
                  <a:solidFill>
                    <a:srgbClr val="000000"/>
                  </a:solidFill>
                  <a:latin typeface="ITC Avant Garde Gothic" pitchFamily="34" charset="0"/>
                  <a:ea typeface="가는각진제목체" pitchFamily="18" charset="-127"/>
                </a:rPr>
                <a:t>STRICTLY CONFIDENTIAL</a:t>
              </a:r>
            </a:p>
          </p:txBody>
        </p:sp>
        <p:sp>
          <p:nvSpPr>
            <p:cNvPr id="6" name="Line 14"/>
            <p:cNvSpPr>
              <a:spLocks noChangeShapeType="1"/>
            </p:cNvSpPr>
            <p:nvPr userDrawn="1"/>
          </p:nvSpPr>
          <p:spPr bwMode="auto">
            <a:xfrm>
              <a:off x="4865" y="303"/>
              <a:ext cx="1089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lnSpc>
                  <a:spcPct val="110000"/>
                </a:lnSpc>
                <a:buFontTx/>
                <a:buChar char="•"/>
                <a:defRPr/>
              </a:pPr>
              <a:endParaRPr lang="ko-KR" altLang="en-US" sz="675">
                <a:solidFill>
                  <a:srgbClr val="000000"/>
                </a:solidFill>
              </a:endParaRPr>
            </a:p>
          </p:txBody>
        </p:sp>
        <p:sp>
          <p:nvSpPr>
            <p:cNvPr id="7" name="Line 15"/>
            <p:cNvSpPr>
              <a:spLocks noChangeShapeType="1"/>
            </p:cNvSpPr>
            <p:nvPr userDrawn="1"/>
          </p:nvSpPr>
          <p:spPr bwMode="auto">
            <a:xfrm>
              <a:off x="4865" y="432"/>
              <a:ext cx="1089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lnSpc>
                  <a:spcPct val="110000"/>
                </a:lnSpc>
                <a:buFontTx/>
                <a:buChar char="•"/>
                <a:defRPr/>
              </a:pPr>
              <a:endParaRPr lang="ko-KR" altLang="en-US" sz="675">
                <a:solidFill>
                  <a:srgbClr val="000000"/>
                </a:solidFill>
              </a:endParaRPr>
            </a:p>
          </p:txBody>
        </p:sp>
      </p:grp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1239" y="3832000"/>
            <a:ext cx="1561525" cy="540000"/>
          </a:xfrm>
          <a:prstGeom prst="rect">
            <a:avLst/>
          </a:prstGeom>
        </p:spPr>
      </p:pic>
      <p:sp>
        <p:nvSpPr>
          <p:cNvPr id="2" name="직사각형 1"/>
          <p:cNvSpPr/>
          <p:nvPr userDrawn="1"/>
        </p:nvSpPr>
        <p:spPr bwMode="auto">
          <a:xfrm>
            <a:off x="8972281" y="4997308"/>
            <a:ext cx="144020" cy="214418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64294" marR="0" indent="-64294" algn="ctr" defTabSz="685800" rtl="0" eaLnBrk="1" fontAlgn="base" latinLnBrk="1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1" lang="ko-KR" altLang="en-US" sz="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JBold" pitchFamily="18" charset="-127"/>
              <a:ea typeface="JBold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55761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 Mess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37">
            <a:extLst>
              <a:ext uri="{FF2B5EF4-FFF2-40B4-BE49-F238E27FC236}">
                <a16:creationId xmlns:a16="http://schemas.microsoft.com/office/drawing/2014/main" id="{E2DD5CEF-B8A5-4E74-8A8A-822FD1F0B129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318011" y="411956"/>
            <a:ext cx="850802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lnSpc>
                <a:spcPct val="110000"/>
              </a:lnSpc>
              <a:buFontTx/>
              <a:buChar char="•"/>
              <a:defRPr/>
            </a:pPr>
            <a:endParaRPr lang="ko-KR" altLang="en-US" sz="675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32006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 37"/>
          <p:cNvSpPr>
            <a:spLocks noChangeShapeType="1"/>
          </p:cNvSpPr>
          <p:nvPr userDrawn="1"/>
        </p:nvSpPr>
        <p:spPr bwMode="auto">
          <a:xfrm>
            <a:off x="319345" y="376236"/>
            <a:ext cx="854362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auto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013">
              <a:solidFill>
                <a:srgbClr val="000000"/>
              </a:solidFill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22626962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화면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 37"/>
          <p:cNvSpPr>
            <a:spLocks noChangeShapeType="1"/>
          </p:cNvSpPr>
          <p:nvPr userDrawn="1"/>
        </p:nvSpPr>
        <p:spPr bwMode="auto">
          <a:xfrm>
            <a:off x="319345" y="376236"/>
            <a:ext cx="854362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auto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013">
              <a:solidFill>
                <a:srgbClr val="000000"/>
              </a:solidFill>
              <a:latin typeface="맑은 고딕"/>
              <a:ea typeface="맑은 고딕"/>
            </a:endParaRPr>
          </a:p>
        </p:txBody>
      </p:sp>
      <p:pic>
        <p:nvPicPr>
          <p:cNvPr id="3" name="그림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4227" y="100035"/>
            <a:ext cx="762476" cy="263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11510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 37"/>
          <p:cNvSpPr>
            <a:spLocks noChangeShapeType="1"/>
          </p:cNvSpPr>
          <p:nvPr userDrawn="1"/>
        </p:nvSpPr>
        <p:spPr bwMode="auto">
          <a:xfrm>
            <a:off x="319345" y="376236"/>
            <a:ext cx="854362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auto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013">
              <a:solidFill>
                <a:srgbClr val="000000"/>
              </a:solidFill>
              <a:latin typeface="맑은 고딕"/>
              <a:ea typeface="맑은 고딕"/>
            </a:endParaRPr>
          </a:p>
        </p:txBody>
      </p:sp>
      <p:pic>
        <p:nvPicPr>
          <p:cNvPr id="3" name="그림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4227" y="100035"/>
            <a:ext cx="762476" cy="263677"/>
          </a:xfrm>
          <a:prstGeom prst="rect">
            <a:avLst/>
          </a:prstGeom>
        </p:spPr>
      </p:pic>
      <p:sp>
        <p:nvSpPr>
          <p:cNvPr id="4" name="직사각형 3"/>
          <p:cNvSpPr/>
          <p:nvPr userDrawn="1"/>
        </p:nvSpPr>
        <p:spPr bwMode="auto">
          <a:xfrm>
            <a:off x="8972281" y="4997308"/>
            <a:ext cx="144020" cy="214418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64294" marR="0" indent="-64294" algn="ctr" defTabSz="685800" rtl="0" eaLnBrk="1" fontAlgn="base" latinLnBrk="1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1" lang="ko-KR" altLang="en-US" sz="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JBold" pitchFamily="18" charset="-127"/>
              <a:ea typeface="JBold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052877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50640" y="1383508"/>
            <a:ext cx="3837843" cy="3209925"/>
          </a:xfrm>
        </p:spPr>
        <p:txBody>
          <a:bodyPr/>
          <a:lstStyle>
            <a:lvl1pPr>
              <a:defRPr sz="1575"/>
            </a:lvl1pPr>
            <a:lvl2pPr>
              <a:defRPr sz="1350"/>
            </a:lvl2pPr>
            <a:lvl3pPr>
              <a:defRPr sz="1125"/>
            </a:lvl3pPr>
            <a:lvl4pPr>
              <a:defRPr sz="1013"/>
            </a:lvl4pPr>
            <a:lvl5pPr>
              <a:defRPr sz="1013"/>
            </a:lvl5pPr>
            <a:lvl6pPr>
              <a:defRPr sz="1013"/>
            </a:lvl6pPr>
            <a:lvl7pPr>
              <a:defRPr sz="1013"/>
            </a:lvl7pPr>
            <a:lvl8pPr>
              <a:defRPr sz="1013"/>
            </a:lvl8pPr>
            <a:lvl9pPr>
              <a:defRPr sz="1013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29151" y="1383508"/>
            <a:ext cx="3837843" cy="3209925"/>
          </a:xfrm>
        </p:spPr>
        <p:txBody>
          <a:bodyPr/>
          <a:lstStyle>
            <a:lvl1pPr>
              <a:defRPr sz="1575"/>
            </a:lvl1pPr>
            <a:lvl2pPr>
              <a:defRPr sz="1350"/>
            </a:lvl2pPr>
            <a:lvl3pPr>
              <a:defRPr sz="1125"/>
            </a:lvl3pPr>
            <a:lvl4pPr>
              <a:defRPr sz="1013"/>
            </a:lvl4pPr>
            <a:lvl5pPr>
              <a:defRPr sz="1013"/>
            </a:lvl5pPr>
            <a:lvl6pPr>
              <a:defRPr sz="1013"/>
            </a:lvl6pPr>
            <a:lvl7pPr>
              <a:defRPr sz="1013"/>
            </a:lvl7pPr>
            <a:lvl8pPr>
              <a:defRPr sz="1013"/>
            </a:lvl8pPr>
            <a:lvl9pPr>
              <a:defRPr sz="1013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8462625" y="4949428"/>
            <a:ext cx="747416" cy="194072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00DE9A9-E4DD-4069-85FA-F9D469476FC0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36055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067" cy="47982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82" indent="0">
              <a:buNone/>
              <a:defRPr sz="1125" b="1"/>
            </a:lvl2pPr>
            <a:lvl3pPr marL="514363" indent="0">
              <a:buNone/>
              <a:defRPr sz="1013" b="1"/>
            </a:lvl3pPr>
            <a:lvl4pPr marL="771545" indent="0">
              <a:buNone/>
              <a:defRPr sz="900" b="1"/>
            </a:lvl4pPr>
            <a:lvl5pPr marL="1028726" indent="0">
              <a:buNone/>
              <a:defRPr sz="900" b="1"/>
            </a:lvl5pPr>
            <a:lvl6pPr marL="1285907" indent="0">
              <a:buNone/>
              <a:defRPr sz="900" b="1"/>
            </a:lvl6pPr>
            <a:lvl7pPr marL="1543089" indent="0">
              <a:buNone/>
              <a:defRPr sz="900" b="1"/>
            </a:lvl7pPr>
            <a:lvl8pPr marL="1800270" indent="0">
              <a:buNone/>
              <a:defRPr sz="900" b="1"/>
            </a:lvl8pPr>
            <a:lvl9pPr marL="2057451" indent="0">
              <a:buNone/>
              <a:defRPr sz="9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067" cy="2963466"/>
          </a:xfrm>
        </p:spPr>
        <p:txBody>
          <a:bodyPr/>
          <a:lstStyle>
            <a:lvl1pPr>
              <a:defRPr sz="1350"/>
            </a:lvl1pPr>
            <a:lvl2pPr>
              <a:defRPr sz="1125"/>
            </a:lvl2pPr>
            <a:lvl3pPr>
              <a:defRPr sz="1013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293" y="1151335"/>
            <a:ext cx="4041531" cy="47982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82" indent="0">
              <a:buNone/>
              <a:defRPr sz="1125" b="1"/>
            </a:lvl2pPr>
            <a:lvl3pPr marL="514363" indent="0">
              <a:buNone/>
              <a:defRPr sz="1013" b="1"/>
            </a:lvl3pPr>
            <a:lvl4pPr marL="771545" indent="0">
              <a:buNone/>
              <a:defRPr sz="900" b="1"/>
            </a:lvl4pPr>
            <a:lvl5pPr marL="1028726" indent="0">
              <a:buNone/>
              <a:defRPr sz="900" b="1"/>
            </a:lvl5pPr>
            <a:lvl6pPr marL="1285907" indent="0">
              <a:buNone/>
              <a:defRPr sz="900" b="1"/>
            </a:lvl6pPr>
            <a:lvl7pPr marL="1543089" indent="0">
              <a:buNone/>
              <a:defRPr sz="900" b="1"/>
            </a:lvl7pPr>
            <a:lvl8pPr marL="1800270" indent="0">
              <a:buNone/>
              <a:defRPr sz="900" b="1"/>
            </a:lvl8pPr>
            <a:lvl9pPr marL="2057451" indent="0">
              <a:buNone/>
              <a:defRPr sz="9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293" y="1631156"/>
            <a:ext cx="4041531" cy="2963466"/>
          </a:xfrm>
        </p:spPr>
        <p:txBody>
          <a:bodyPr/>
          <a:lstStyle>
            <a:lvl1pPr>
              <a:defRPr sz="1350"/>
            </a:lvl1pPr>
            <a:lvl2pPr>
              <a:defRPr sz="1125"/>
            </a:lvl2pPr>
            <a:lvl3pPr>
              <a:defRPr sz="1013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8" name="Rectangle 10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8462625" y="4949428"/>
            <a:ext cx="747416" cy="194072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BE5218-EF21-468B-8C7C-A4DF7A88BA45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99838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4" name="Rectangle 10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8462625" y="4949428"/>
            <a:ext cx="747416" cy="194072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3B0147-E59D-457D-9A4B-EB1F4EC31124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19492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435" cy="871538"/>
          </a:xfrm>
        </p:spPr>
        <p:txBody>
          <a:bodyPr anchor="b"/>
          <a:lstStyle>
            <a:lvl1pPr algn="l">
              <a:defRPr sz="1125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542" y="204797"/>
            <a:ext cx="5111263" cy="4389835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1" y="1076328"/>
            <a:ext cx="3008435" cy="3518297"/>
          </a:xfrm>
        </p:spPr>
        <p:txBody>
          <a:bodyPr/>
          <a:lstStyle>
            <a:lvl1pPr marL="0" indent="0">
              <a:buNone/>
              <a:defRPr sz="788"/>
            </a:lvl1pPr>
            <a:lvl2pPr marL="257182" indent="0">
              <a:buNone/>
              <a:defRPr sz="675"/>
            </a:lvl2pPr>
            <a:lvl3pPr marL="514363" indent="0">
              <a:buNone/>
              <a:defRPr sz="563"/>
            </a:lvl3pPr>
            <a:lvl4pPr marL="771545" indent="0">
              <a:buNone/>
              <a:defRPr sz="506"/>
            </a:lvl4pPr>
            <a:lvl5pPr marL="1028726" indent="0">
              <a:buNone/>
              <a:defRPr sz="506"/>
            </a:lvl5pPr>
            <a:lvl6pPr marL="1285907" indent="0">
              <a:buNone/>
              <a:defRPr sz="506"/>
            </a:lvl6pPr>
            <a:lvl7pPr marL="1543089" indent="0">
              <a:buNone/>
              <a:defRPr sz="506"/>
            </a:lvl7pPr>
            <a:lvl8pPr marL="1800270" indent="0">
              <a:buNone/>
              <a:defRPr sz="506"/>
            </a:lvl8pPr>
            <a:lvl9pPr marL="2057451" indent="0">
              <a:buNone/>
              <a:defRPr sz="506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8462625" y="4949428"/>
            <a:ext cx="747416" cy="194072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758533-04BF-4F04-BEEA-830D08C46170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79384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167" y="3600450"/>
            <a:ext cx="5486400" cy="425054"/>
          </a:xfrm>
        </p:spPr>
        <p:txBody>
          <a:bodyPr anchor="b"/>
          <a:lstStyle>
            <a:lvl1pPr algn="l">
              <a:defRPr sz="1125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167" y="459581"/>
            <a:ext cx="5486400" cy="3086100"/>
          </a:xfrm>
        </p:spPr>
        <p:txBody>
          <a:bodyPr/>
          <a:lstStyle>
            <a:lvl1pPr marL="0" indent="0">
              <a:buNone/>
              <a:defRPr sz="1800"/>
            </a:lvl1pPr>
            <a:lvl2pPr marL="257182" indent="0">
              <a:buNone/>
              <a:defRPr sz="1575"/>
            </a:lvl2pPr>
            <a:lvl3pPr marL="514363" indent="0">
              <a:buNone/>
              <a:defRPr sz="1350"/>
            </a:lvl3pPr>
            <a:lvl4pPr marL="771545" indent="0">
              <a:buNone/>
              <a:defRPr sz="1125"/>
            </a:lvl4pPr>
            <a:lvl5pPr marL="1028726" indent="0">
              <a:buNone/>
              <a:defRPr sz="1125"/>
            </a:lvl5pPr>
            <a:lvl6pPr marL="1285907" indent="0">
              <a:buNone/>
              <a:defRPr sz="1125"/>
            </a:lvl6pPr>
            <a:lvl7pPr marL="1543089" indent="0">
              <a:buNone/>
              <a:defRPr sz="1125"/>
            </a:lvl7pPr>
            <a:lvl8pPr marL="1800270" indent="0">
              <a:buNone/>
              <a:defRPr sz="1125"/>
            </a:lvl8pPr>
            <a:lvl9pPr marL="2057451" indent="0">
              <a:buNone/>
              <a:defRPr sz="1125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167" y="4025505"/>
            <a:ext cx="5486400" cy="603647"/>
          </a:xfrm>
        </p:spPr>
        <p:txBody>
          <a:bodyPr/>
          <a:lstStyle>
            <a:lvl1pPr marL="0" indent="0">
              <a:buNone/>
              <a:defRPr sz="788"/>
            </a:lvl1pPr>
            <a:lvl2pPr marL="257182" indent="0">
              <a:buNone/>
              <a:defRPr sz="675"/>
            </a:lvl2pPr>
            <a:lvl3pPr marL="514363" indent="0">
              <a:buNone/>
              <a:defRPr sz="563"/>
            </a:lvl3pPr>
            <a:lvl4pPr marL="771545" indent="0">
              <a:buNone/>
              <a:defRPr sz="506"/>
            </a:lvl4pPr>
            <a:lvl5pPr marL="1028726" indent="0">
              <a:buNone/>
              <a:defRPr sz="506"/>
            </a:lvl5pPr>
            <a:lvl6pPr marL="1285907" indent="0">
              <a:buNone/>
              <a:defRPr sz="506"/>
            </a:lvl6pPr>
            <a:lvl7pPr marL="1543089" indent="0">
              <a:buNone/>
              <a:defRPr sz="506"/>
            </a:lvl7pPr>
            <a:lvl8pPr marL="1800270" indent="0">
              <a:buNone/>
              <a:defRPr sz="506"/>
            </a:lvl8pPr>
            <a:lvl9pPr marL="2057451" indent="0">
              <a:buNone/>
              <a:defRPr sz="506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8462625" y="4949428"/>
            <a:ext cx="747416" cy="194072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7B6B3B-A61F-42C3-AD08-58EFA8171B5F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87903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5" name="Rectangle 10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8462625" y="4949428"/>
            <a:ext cx="747416" cy="194072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0A37DEA-567D-4CB6-B82E-FEE9D8221B22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44767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1_제목 및 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18015" y="465539"/>
            <a:ext cx="8508023" cy="473869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표 개체 틀 2"/>
          <p:cNvSpPr>
            <a:spLocks noGrp="1"/>
          </p:cNvSpPr>
          <p:nvPr>
            <p:ph type="tbl" idx="1"/>
          </p:nvPr>
        </p:nvSpPr>
        <p:spPr>
          <a:xfrm>
            <a:off x="650633" y="1383508"/>
            <a:ext cx="7816363" cy="3209925"/>
          </a:xfrm>
        </p:spPr>
        <p:txBody>
          <a:bodyPr/>
          <a:lstStyle/>
          <a:p>
            <a:pPr lvl="0"/>
            <a:endParaRPr lang="ko-KR" altLang="en-US" noProof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5" name="Rectangle 10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8462625" y="4949428"/>
            <a:ext cx="747416" cy="194072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F9B0C0-C9D7-4117-8F31-24DB83030613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6" name="Line 37"/>
          <p:cNvSpPr>
            <a:spLocks noChangeShapeType="1"/>
          </p:cNvSpPr>
          <p:nvPr userDrawn="1"/>
        </p:nvSpPr>
        <p:spPr bwMode="auto">
          <a:xfrm>
            <a:off x="319345" y="411956"/>
            <a:ext cx="854362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auto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013">
              <a:solidFill>
                <a:srgbClr val="000000"/>
              </a:solidFill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26333547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5" name="Rectangle 10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3505200" y="4949428"/>
            <a:ext cx="2133600" cy="194072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DF97FD-AC21-4525-B2EC-084D013B7050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8" name="Line 37"/>
          <p:cNvSpPr>
            <a:spLocks noChangeShapeType="1"/>
          </p:cNvSpPr>
          <p:nvPr userDrawn="1"/>
        </p:nvSpPr>
        <p:spPr bwMode="auto">
          <a:xfrm>
            <a:off x="319345" y="411956"/>
            <a:ext cx="854362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auto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013">
              <a:solidFill>
                <a:srgbClr val="000000"/>
              </a:solidFill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7667221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6"/>
          <p:cNvGrpSpPr>
            <a:grpSpLocks/>
          </p:cNvGrpSpPr>
          <p:nvPr userDrawn="1"/>
        </p:nvGrpSpPr>
        <p:grpSpPr bwMode="auto">
          <a:xfrm>
            <a:off x="7097115" y="400467"/>
            <a:ext cx="1728788" cy="207962"/>
            <a:chOff x="4865" y="303"/>
            <a:chExt cx="1089" cy="131"/>
          </a:xfrm>
        </p:grpSpPr>
        <p:sp>
          <p:nvSpPr>
            <p:cNvPr id="5" name="Text Box 6"/>
            <p:cNvSpPr txBox="1">
              <a:spLocks noChangeArrowheads="1"/>
            </p:cNvSpPr>
            <p:nvPr/>
          </p:nvSpPr>
          <p:spPr bwMode="auto">
            <a:xfrm>
              <a:off x="5066" y="305"/>
              <a:ext cx="714" cy="1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 anchor="ctr">
              <a:spAutoFit/>
            </a:bodyPr>
            <a:lstStyle/>
            <a:p>
              <a:pPr algn="ctr" eaLnBrk="0" fontAlgn="ctr" latinLnBrk="0" hangingPunct="0">
                <a:spcBef>
                  <a:spcPct val="50000"/>
                </a:spcBef>
                <a:buFont typeface="Arial" charset="0"/>
                <a:buNone/>
                <a:defRPr/>
              </a:pPr>
              <a:r>
                <a:rPr lang="en-US" altLang="ko-KR" sz="750" i="1" dirty="0">
                  <a:solidFill>
                    <a:srgbClr val="000000"/>
                  </a:solidFill>
                  <a:latin typeface="ITC Avant Garde Gothic" pitchFamily="34" charset="0"/>
                  <a:ea typeface="가는각진제목체" pitchFamily="18" charset="-127"/>
                </a:rPr>
                <a:t>STRICTLY CONFIDENTIAL</a:t>
              </a:r>
            </a:p>
          </p:txBody>
        </p:sp>
        <p:sp>
          <p:nvSpPr>
            <p:cNvPr id="6" name="Line 14"/>
            <p:cNvSpPr>
              <a:spLocks noChangeShapeType="1"/>
            </p:cNvSpPr>
            <p:nvPr userDrawn="1"/>
          </p:nvSpPr>
          <p:spPr bwMode="auto">
            <a:xfrm>
              <a:off x="4865" y="303"/>
              <a:ext cx="1089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lnSpc>
                  <a:spcPct val="110000"/>
                </a:lnSpc>
                <a:buFontTx/>
                <a:buChar char="•"/>
                <a:defRPr/>
              </a:pPr>
              <a:endParaRPr lang="ko-KR" altLang="en-US" sz="1350">
                <a:solidFill>
                  <a:srgbClr val="000000"/>
                </a:solidFill>
              </a:endParaRPr>
            </a:p>
          </p:txBody>
        </p:sp>
        <p:sp>
          <p:nvSpPr>
            <p:cNvPr id="7" name="Line 15"/>
            <p:cNvSpPr>
              <a:spLocks noChangeShapeType="1"/>
            </p:cNvSpPr>
            <p:nvPr userDrawn="1"/>
          </p:nvSpPr>
          <p:spPr bwMode="auto">
            <a:xfrm>
              <a:off x="4865" y="432"/>
              <a:ext cx="1089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lnSpc>
                  <a:spcPct val="110000"/>
                </a:lnSpc>
                <a:buFontTx/>
                <a:buChar char="•"/>
                <a:defRPr/>
              </a:pPr>
              <a:endParaRPr lang="ko-KR" altLang="en-US" sz="1350">
                <a:solidFill>
                  <a:srgbClr val="000000"/>
                </a:solidFill>
              </a:endParaRPr>
            </a:p>
          </p:txBody>
        </p:sp>
      </p:grp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1240" y="3832000"/>
            <a:ext cx="1561525" cy="540000"/>
          </a:xfrm>
          <a:prstGeom prst="rect">
            <a:avLst/>
          </a:prstGeom>
        </p:spPr>
      </p:pic>
      <p:sp>
        <p:nvSpPr>
          <p:cNvPr id="2" name="직사각형 1"/>
          <p:cNvSpPr/>
          <p:nvPr userDrawn="1"/>
        </p:nvSpPr>
        <p:spPr bwMode="auto">
          <a:xfrm>
            <a:off x="8972282" y="4997309"/>
            <a:ext cx="144020" cy="214418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64292" marR="0" indent="-64292" algn="ctr" defTabSz="685784" rtl="0" eaLnBrk="1" fontAlgn="base" latinLnBrk="1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1" lang="ko-KR" altLang="en-US" sz="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JBold" pitchFamily="18" charset="-127"/>
              <a:ea typeface="JBold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603002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 Mess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37">
            <a:extLst>
              <a:ext uri="{FF2B5EF4-FFF2-40B4-BE49-F238E27FC236}">
                <a16:creationId xmlns:a16="http://schemas.microsoft.com/office/drawing/2014/main" id="{E2DD5CEF-B8A5-4E74-8A8A-822FD1F0B129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318013" y="411956"/>
            <a:ext cx="850802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lnSpc>
                <a:spcPct val="110000"/>
              </a:lnSpc>
              <a:buFontTx/>
              <a:buChar char="•"/>
              <a:defRPr/>
            </a:pPr>
            <a:endParaRPr lang="ko-KR" altLang="en-US" sz="675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62912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 37"/>
          <p:cNvSpPr>
            <a:spLocks noChangeShapeType="1"/>
          </p:cNvSpPr>
          <p:nvPr userDrawn="1"/>
        </p:nvSpPr>
        <p:spPr bwMode="auto">
          <a:xfrm>
            <a:off x="319346" y="376236"/>
            <a:ext cx="854362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auto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013">
              <a:solidFill>
                <a:srgbClr val="000000"/>
              </a:solidFill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3022043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화면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 37"/>
          <p:cNvSpPr>
            <a:spLocks noChangeShapeType="1"/>
          </p:cNvSpPr>
          <p:nvPr userDrawn="1"/>
        </p:nvSpPr>
        <p:spPr bwMode="auto">
          <a:xfrm>
            <a:off x="319346" y="376236"/>
            <a:ext cx="854362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auto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013">
              <a:solidFill>
                <a:srgbClr val="000000"/>
              </a:solidFill>
              <a:latin typeface="맑은 고딕"/>
              <a:ea typeface="맑은 고딕"/>
            </a:endParaRPr>
          </a:p>
        </p:txBody>
      </p:sp>
      <p:pic>
        <p:nvPicPr>
          <p:cNvPr id="3" name="그림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4229" y="100036"/>
            <a:ext cx="762476" cy="263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344626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 37"/>
          <p:cNvSpPr>
            <a:spLocks noChangeShapeType="1"/>
          </p:cNvSpPr>
          <p:nvPr userDrawn="1"/>
        </p:nvSpPr>
        <p:spPr bwMode="auto">
          <a:xfrm>
            <a:off x="319346" y="376236"/>
            <a:ext cx="854362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auto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013">
              <a:solidFill>
                <a:srgbClr val="000000"/>
              </a:solidFill>
              <a:latin typeface="맑은 고딕"/>
              <a:ea typeface="맑은 고딕"/>
            </a:endParaRPr>
          </a:p>
        </p:txBody>
      </p:sp>
      <p:pic>
        <p:nvPicPr>
          <p:cNvPr id="3" name="그림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4229" y="100036"/>
            <a:ext cx="762476" cy="263677"/>
          </a:xfrm>
          <a:prstGeom prst="rect">
            <a:avLst/>
          </a:prstGeom>
        </p:spPr>
      </p:pic>
      <p:sp>
        <p:nvSpPr>
          <p:cNvPr id="4" name="직사각형 3"/>
          <p:cNvSpPr/>
          <p:nvPr userDrawn="1"/>
        </p:nvSpPr>
        <p:spPr bwMode="auto">
          <a:xfrm>
            <a:off x="8972282" y="4997309"/>
            <a:ext cx="144020" cy="214418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64292" marR="0" indent="-64292" algn="ctr" defTabSz="685784" rtl="0" eaLnBrk="1" fontAlgn="base" latinLnBrk="1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1" lang="ko-KR" altLang="en-US" sz="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JBold" pitchFamily="18" charset="-127"/>
              <a:ea typeface="JBold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7033720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50640" y="1383508"/>
            <a:ext cx="3837843" cy="3209925"/>
          </a:xfrm>
        </p:spPr>
        <p:txBody>
          <a:bodyPr/>
          <a:lstStyle>
            <a:lvl1pPr>
              <a:defRPr sz="1575"/>
            </a:lvl1pPr>
            <a:lvl2pPr>
              <a:defRPr sz="1350"/>
            </a:lvl2pPr>
            <a:lvl3pPr>
              <a:defRPr sz="1125"/>
            </a:lvl3pPr>
            <a:lvl4pPr>
              <a:defRPr sz="1013"/>
            </a:lvl4pPr>
            <a:lvl5pPr>
              <a:defRPr sz="1013"/>
            </a:lvl5pPr>
            <a:lvl6pPr>
              <a:defRPr sz="1013"/>
            </a:lvl6pPr>
            <a:lvl7pPr>
              <a:defRPr sz="1013"/>
            </a:lvl7pPr>
            <a:lvl8pPr>
              <a:defRPr sz="1013"/>
            </a:lvl8pPr>
            <a:lvl9pPr>
              <a:defRPr sz="1013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29151" y="1383508"/>
            <a:ext cx="3837843" cy="3209925"/>
          </a:xfrm>
        </p:spPr>
        <p:txBody>
          <a:bodyPr/>
          <a:lstStyle>
            <a:lvl1pPr>
              <a:defRPr sz="1575"/>
            </a:lvl1pPr>
            <a:lvl2pPr>
              <a:defRPr sz="1350"/>
            </a:lvl2pPr>
            <a:lvl3pPr>
              <a:defRPr sz="1125"/>
            </a:lvl3pPr>
            <a:lvl4pPr>
              <a:defRPr sz="1013"/>
            </a:lvl4pPr>
            <a:lvl5pPr>
              <a:defRPr sz="1013"/>
            </a:lvl5pPr>
            <a:lvl6pPr>
              <a:defRPr sz="1013"/>
            </a:lvl6pPr>
            <a:lvl7pPr>
              <a:defRPr sz="1013"/>
            </a:lvl7pPr>
            <a:lvl8pPr>
              <a:defRPr sz="1013"/>
            </a:lvl8pPr>
            <a:lvl9pPr>
              <a:defRPr sz="1013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8462627" y="4949428"/>
            <a:ext cx="747416" cy="194072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00DE9A9-E4DD-4069-85FA-F9D469476FC0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472309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1" y="1151335"/>
            <a:ext cx="4040067" cy="47982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6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1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1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399" indent="0">
              <a:buNone/>
              <a:defRPr sz="9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1" y="1631156"/>
            <a:ext cx="4040067" cy="2963466"/>
          </a:xfrm>
        </p:spPr>
        <p:txBody>
          <a:bodyPr/>
          <a:lstStyle>
            <a:lvl1pPr>
              <a:defRPr sz="1350"/>
            </a:lvl1pPr>
            <a:lvl2pPr>
              <a:defRPr sz="1125"/>
            </a:lvl2pPr>
            <a:lvl3pPr>
              <a:defRPr sz="1013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293" y="1151335"/>
            <a:ext cx="4041531" cy="47982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6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1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1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399" indent="0">
              <a:buNone/>
              <a:defRPr sz="9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293" y="1631156"/>
            <a:ext cx="4041531" cy="2963466"/>
          </a:xfrm>
        </p:spPr>
        <p:txBody>
          <a:bodyPr/>
          <a:lstStyle>
            <a:lvl1pPr>
              <a:defRPr sz="1350"/>
            </a:lvl1pPr>
            <a:lvl2pPr>
              <a:defRPr sz="1125"/>
            </a:lvl2pPr>
            <a:lvl3pPr>
              <a:defRPr sz="1013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8" name="Rectangle 10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8462627" y="4949428"/>
            <a:ext cx="747416" cy="194072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BE5218-EF21-468B-8C7C-A4DF7A88BA45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857061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223452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3" y="204787"/>
            <a:ext cx="3008435" cy="871538"/>
          </a:xfrm>
        </p:spPr>
        <p:txBody>
          <a:bodyPr anchor="b"/>
          <a:lstStyle>
            <a:lvl1pPr algn="l">
              <a:defRPr sz="1125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543" y="204798"/>
            <a:ext cx="5111263" cy="4389835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3" y="1076328"/>
            <a:ext cx="3008435" cy="3518297"/>
          </a:xfrm>
        </p:spPr>
        <p:txBody>
          <a:bodyPr/>
          <a:lstStyle>
            <a:lvl1pPr marL="0" indent="0">
              <a:buNone/>
              <a:defRPr sz="788"/>
            </a:lvl1pPr>
            <a:lvl2pPr marL="257176" indent="0">
              <a:buNone/>
              <a:defRPr sz="675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1" indent="0">
              <a:buNone/>
              <a:defRPr sz="506"/>
            </a:lvl5pPr>
            <a:lvl6pPr marL="1285875" indent="0">
              <a:buNone/>
              <a:defRPr sz="506"/>
            </a:lvl6pPr>
            <a:lvl7pPr marL="1543051" indent="0">
              <a:buNone/>
              <a:defRPr sz="506"/>
            </a:lvl7pPr>
            <a:lvl8pPr marL="1800225" indent="0">
              <a:buNone/>
              <a:defRPr sz="506"/>
            </a:lvl8pPr>
            <a:lvl9pPr marL="2057399" indent="0">
              <a:buNone/>
              <a:defRPr sz="506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8462627" y="4949428"/>
            <a:ext cx="747416" cy="194072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758533-04BF-4F04-BEEA-830D08C46170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660641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167" y="3600451"/>
            <a:ext cx="5486400" cy="425054"/>
          </a:xfrm>
        </p:spPr>
        <p:txBody>
          <a:bodyPr anchor="b"/>
          <a:lstStyle>
            <a:lvl1pPr algn="l">
              <a:defRPr sz="1125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167" y="459581"/>
            <a:ext cx="5486400" cy="3086100"/>
          </a:xfrm>
        </p:spPr>
        <p:txBody>
          <a:bodyPr/>
          <a:lstStyle>
            <a:lvl1pPr marL="0" indent="0">
              <a:buNone/>
              <a:defRPr sz="1800"/>
            </a:lvl1pPr>
            <a:lvl2pPr marL="257176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1" indent="0">
              <a:buNone/>
              <a:defRPr sz="1125"/>
            </a:lvl5pPr>
            <a:lvl6pPr marL="1285875" indent="0">
              <a:buNone/>
              <a:defRPr sz="1125"/>
            </a:lvl6pPr>
            <a:lvl7pPr marL="1543051" indent="0">
              <a:buNone/>
              <a:defRPr sz="1125"/>
            </a:lvl7pPr>
            <a:lvl8pPr marL="1800225" indent="0">
              <a:buNone/>
              <a:defRPr sz="1125"/>
            </a:lvl8pPr>
            <a:lvl9pPr marL="2057399" indent="0">
              <a:buNone/>
              <a:defRPr sz="1125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167" y="4025506"/>
            <a:ext cx="5486400" cy="603647"/>
          </a:xfrm>
        </p:spPr>
        <p:txBody>
          <a:bodyPr/>
          <a:lstStyle>
            <a:lvl1pPr marL="0" indent="0">
              <a:buNone/>
              <a:defRPr sz="788"/>
            </a:lvl1pPr>
            <a:lvl2pPr marL="257176" indent="0">
              <a:buNone/>
              <a:defRPr sz="675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1" indent="0">
              <a:buNone/>
              <a:defRPr sz="506"/>
            </a:lvl5pPr>
            <a:lvl6pPr marL="1285875" indent="0">
              <a:buNone/>
              <a:defRPr sz="506"/>
            </a:lvl6pPr>
            <a:lvl7pPr marL="1543051" indent="0">
              <a:buNone/>
              <a:defRPr sz="506"/>
            </a:lvl7pPr>
            <a:lvl8pPr marL="1800225" indent="0">
              <a:buNone/>
              <a:defRPr sz="506"/>
            </a:lvl8pPr>
            <a:lvl9pPr marL="2057399" indent="0">
              <a:buNone/>
              <a:defRPr sz="506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8462627" y="4949428"/>
            <a:ext cx="747416" cy="194072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7B6B3B-A61F-42C3-AD08-58EFA8171B5F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16400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5" name="Rectangle 10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8462627" y="4949428"/>
            <a:ext cx="747416" cy="194072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0A37DEA-567D-4CB6-B82E-FEE9D8221B22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921684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1_제목 및 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18017" y="465540"/>
            <a:ext cx="8508023" cy="473869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표 개체 틀 2"/>
          <p:cNvSpPr>
            <a:spLocks noGrp="1"/>
          </p:cNvSpPr>
          <p:nvPr>
            <p:ph type="tbl" idx="1"/>
          </p:nvPr>
        </p:nvSpPr>
        <p:spPr>
          <a:xfrm>
            <a:off x="650635" y="1383508"/>
            <a:ext cx="7816363" cy="3209925"/>
          </a:xfrm>
        </p:spPr>
        <p:txBody>
          <a:bodyPr/>
          <a:lstStyle/>
          <a:p>
            <a:pPr lvl="0"/>
            <a:endParaRPr lang="ko-KR" altLang="en-US" noProof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5" name="Rectangle 10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8462627" y="4949428"/>
            <a:ext cx="747416" cy="194072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F9B0C0-C9D7-4117-8F31-24DB83030613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6" name="Line 37"/>
          <p:cNvSpPr>
            <a:spLocks noChangeShapeType="1"/>
          </p:cNvSpPr>
          <p:nvPr userDrawn="1"/>
        </p:nvSpPr>
        <p:spPr bwMode="auto">
          <a:xfrm>
            <a:off x="319346" y="411956"/>
            <a:ext cx="854362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auto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013">
              <a:solidFill>
                <a:srgbClr val="000000"/>
              </a:solidFill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97631531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5" name="Rectangle 10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3505200" y="4949428"/>
            <a:ext cx="2133600" cy="194072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DF97FD-AC21-4525-B2EC-084D013B7050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8" name="Line 37"/>
          <p:cNvSpPr>
            <a:spLocks noChangeShapeType="1"/>
          </p:cNvSpPr>
          <p:nvPr userDrawn="1"/>
        </p:nvSpPr>
        <p:spPr bwMode="auto">
          <a:xfrm>
            <a:off x="319346" y="411956"/>
            <a:ext cx="854362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auto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013">
              <a:solidFill>
                <a:srgbClr val="000000"/>
              </a:solidFill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366586641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Relationship Id="rId15" Type="http://schemas.openxmlformats.org/officeDocument/2006/relationships/image" Target="../media/image1.png"/><Relationship Id="rId16" Type="http://schemas.openxmlformats.org/officeDocument/2006/relationships/image" Target="../media/image2.png"/><Relationship Id="rId17" Type="http://schemas.openxmlformats.org/officeDocument/2006/relationships/image" Target="../media/image3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0.xml"/><Relationship Id="rId8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26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18011" y="465539"/>
            <a:ext cx="8508023" cy="47386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none" lIns="9000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 err="1"/>
              <a:t>경영회의</a:t>
            </a:r>
            <a:r>
              <a:rPr lang="ko-KR" altLang="en-US" dirty="0"/>
              <a:t> 양식</a:t>
            </a:r>
            <a:endParaRPr lang="en-US" altLang="ko-KR" dirty="0"/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50633" y="1383508"/>
            <a:ext cx="7816363" cy="3209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Jbold</a:t>
            </a:r>
          </a:p>
          <a:p>
            <a:pPr lvl="1"/>
            <a:r>
              <a:rPr lang="en-US" altLang="ko-KR"/>
              <a:t>Jbold</a:t>
            </a:r>
          </a:p>
          <a:p>
            <a:pPr lvl="2"/>
            <a:r>
              <a:rPr lang="en-US" altLang="ko-KR"/>
              <a:t>12</a:t>
            </a:r>
            <a:r>
              <a:rPr lang="ko-KR" altLang="en-US"/>
              <a:t>포인트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4926841"/>
            <a:ext cx="2133600" cy="1607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latinLnBrk="0">
              <a:lnSpc>
                <a:spcPct val="100000"/>
              </a:lnSpc>
              <a:buFontTx/>
              <a:buNone/>
              <a:defRPr>
                <a:latin typeface="+mj-lt"/>
              </a:defRPr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838434E-4AAA-419E-88A6-87CFF3482A4C}"/>
              </a:ext>
            </a:extLst>
          </p:cNvPr>
          <p:cNvSpPr/>
          <p:nvPr userDrawn="1"/>
        </p:nvSpPr>
        <p:spPr bwMode="auto">
          <a:xfrm>
            <a:off x="-425345" y="30469"/>
            <a:ext cx="360000" cy="360000"/>
          </a:xfrm>
          <a:prstGeom prst="rect">
            <a:avLst/>
          </a:prstGeom>
          <a:solidFill>
            <a:srgbClr val="526680"/>
          </a:solidFill>
          <a:ln w="952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 marR="0" algn="ctr" defTabSz="685800" rtl="0" eaLnBrk="1" fontAlgn="base" latinLnBrk="1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1" lang="ko-KR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J ONLYONE NEW 본문 OTF Regular" panose="00000500000000000000" pitchFamily="50" charset="-127"/>
              <a:ea typeface="CJ ONLYONE NEW 본문 OTF Regular" panose="00000500000000000000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75A9922-3264-49C4-99D6-D3E970AA3428}"/>
              </a:ext>
            </a:extLst>
          </p:cNvPr>
          <p:cNvSpPr/>
          <p:nvPr userDrawn="1"/>
        </p:nvSpPr>
        <p:spPr bwMode="auto">
          <a:xfrm>
            <a:off x="-425345" y="454373"/>
            <a:ext cx="360000" cy="360000"/>
          </a:xfrm>
          <a:prstGeom prst="rect">
            <a:avLst/>
          </a:prstGeom>
          <a:solidFill>
            <a:srgbClr val="9DC3E6"/>
          </a:solidFill>
          <a:ln w="952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 marR="0" algn="ctr" defTabSz="685800" rtl="0" eaLnBrk="1" fontAlgn="base" latinLnBrk="1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1" lang="ko-KR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J ONLYONE NEW 본문 OTF Regular" panose="00000500000000000000" pitchFamily="50" charset="-127"/>
              <a:ea typeface="CJ ONLYONE NEW 본문 OTF Regular" panose="00000500000000000000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68DEF58-4561-4787-8CC7-592031FC933E}"/>
              </a:ext>
            </a:extLst>
          </p:cNvPr>
          <p:cNvSpPr/>
          <p:nvPr userDrawn="1"/>
        </p:nvSpPr>
        <p:spPr bwMode="auto">
          <a:xfrm>
            <a:off x="-425345" y="878277"/>
            <a:ext cx="360000" cy="360000"/>
          </a:xfrm>
          <a:prstGeom prst="rect">
            <a:avLst/>
          </a:prstGeom>
          <a:solidFill>
            <a:srgbClr val="D7E0F2"/>
          </a:solidFill>
          <a:ln w="952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 marR="0" algn="ctr" defTabSz="685800" rtl="0" eaLnBrk="1" fontAlgn="base" latinLnBrk="1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1" lang="ko-KR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J ONLYONE NEW 본문 OTF Regular" panose="00000500000000000000" pitchFamily="50" charset="-127"/>
              <a:ea typeface="CJ ONLYONE NEW 본문 OTF Regular" panose="00000500000000000000" pitchFamily="50" charset="-127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4A90E043-2D51-4159-B3AB-2D9C7FF585E8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-417596" y="1724973"/>
            <a:ext cx="357832" cy="350951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7D9F7EF4-99A9-4232-820B-2A5993FB02E4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-426841" y="2152570"/>
            <a:ext cx="361497" cy="350951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7EB51D5A-B50C-4BFC-BA8E-6608AC8FCDC3}"/>
              </a:ext>
            </a:extLst>
          </p:cNvPr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-426841" y="1288191"/>
            <a:ext cx="361497" cy="379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5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9" r:id="rId2"/>
    <p:sldLayoutId id="2147483669" r:id="rId3"/>
    <p:sldLayoutId id="2147483681" r:id="rId4"/>
    <p:sldLayoutId id="2147483696" r:id="rId5"/>
    <p:sldLayoutId id="2147483671" r:id="rId6"/>
    <p:sldLayoutId id="2147483672" r:id="rId7"/>
    <p:sldLayoutId id="2147483673" r:id="rId8"/>
    <p:sldLayoutId id="2147483675" r:id="rId9"/>
    <p:sldLayoutId id="2147483676" r:id="rId10"/>
    <p:sldLayoutId id="2147483677" r:id="rId11"/>
    <p:sldLayoutId id="2147483680" r:id="rId12"/>
    <p:sldLayoutId id="2147483736" r:id="rId13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>
          <a:solidFill>
            <a:schemeClr val="tx1"/>
          </a:solidFill>
          <a:latin typeface="Tahoma" pitchFamily="34" charset="0"/>
          <a:ea typeface="JBold" pitchFamily="18" charset="-127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>
          <a:solidFill>
            <a:schemeClr val="tx1"/>
          </a:solidFill>
          <a:latin typeface="Tahoma" pitchFamily="34" charset="0"/>
          <a:ea typeface="JBold" pitchFamily="18" charset="-127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>
          <a:solidFill>
            <a:schemeClr val="tx1"/>
          </a:solidFill>
          <a:latin typeface="Tahoma" pitchFamily="34" charset="0"/>
          <a:ea typeface="JBold" pitchFamily="18" charset="-127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>
          <a:solidFill>
            <a:schemeClr val="tx1"/>
          </a:solidFill>
          <a:latin typeface="Tahoma" pitchFamily="34" charset="0"/>
          <a:ea typeface="JBold" pitchFamily="18" charset="-127"/>
        </a:defRPr>
      </a:lvl5pPr>
      <a:lvl6pPr marL="257182" algn="l" rtl="0" fontAlgn="base">
        <a:spcBef>
          <a:spcPct val="0"/>
        </a:spcBef>
        <a:spcAft>
          <a:spcPct val="0"/>
        </a:spcAft>
        <a:defRPr kumimoji="1">
          <a:solidFill>
            <a:schemeClr val="tx1"/>
          </a:solidFill>
          <a:latin typeface="Tahoma" pitchFamily="34" charset="0"/>
          <a:ea typeface="JBold" pitchFamily="18" charset="-127"/>
        </a:defRPr>
      </a:lvl6pPr>
      <a:lvl7pPr marL="514363" algn="l" rtl="0" fontAlgn="base">
        <a:spcBef>
          <a:spcPct val="0"/>
        </a:spcBef>
        <a:spcAft>
          <a:spcPct val="0"/>
        </a:spcAft>
        <a:defRPr kumimoji="1">
          <a:solidFill>
            <a:schemeClr val="tx1"/>
          </a:solidFill>
          <a:latin typeface="Tahoma" pitchFamily="34" charset="0"/>
          <a:ea typeface="JBold" pitchFamily="18" charset="-127"/>
        </a:defRPr>
      </a:lvl7pPr>
      <a:lvl8pPr marL="771545" algn="l" rtl="0" fontAlgn="base">
        <a:spcBef>
          <a:spcPct val="0"/>
        </a:spcBef>
        <a:spcAft>
          <a:spcPct val="0"/>
        </a:spcAft>
        <a:defRPr kumimoji="1">
          <a:solidFill>
            <a:schemeClr val="tx1"/>
          </a:solidFill>
          <a:latin typeface="Tahoma" pitchFamily="34" charset="0"/>
          <a:ea typeface="JBold" pitchFamily="18" charset="-127"/>
        </a:defRPr>
      </a:lvl8pPr>
      <a:lvl9pPr marL="1028726" algn="l" rtl="0" fontAlgn="base">
        <a:spcBef>
          <a:spcPct val="0"/>
        </a:spcBef>
        <a:spcAft>
          <a:spcPct val="0"/>
        </a:spcAft>
        <a:defRPr kumimoji="1">
          <a:solidFill>
            <a:schemeClr val="tx1"/>
          </a:solidFill>
          <a:latin typeface="Tahoma" pitchFamily="34" charset="0"/>
          <a:ea typeface="JBold" pitchFamily="18" charset="-127"/>
        </a:defRPr>
      </a:lvl9pPr>
    </p:titleStyle>
    <p:bodyStyle>
      <a:lvl1pPr marL="99122" indent="-99122" algn="l" rtl="0" eaLnBrk="0" fontAlgn="base" hangingPunct="0">
        <a:spcBef>
          <a:spcPct val="50000"/>
        </a:spcBef>
        <a:spcAft>
          <a:spcPct val="20000"/>
        </a:spcAft>
        <a:buClr>
          <a:schemeClr val="tx1"/>
        </a:buClr>
        <a:buFont typeface="Wingdings" pitchFamily="2" charset="2"/>
        <a:buChar char="§"/>
        <a:defRPr kumimoji="1" sz="788">
          <a:solidFill>
            <a:schemeClr val="tx1"/>
          </a:solidFill>
          <a:latin typeface="+mn-lt"/>
          <a:ea typeface="+mn-ea"/>
          <a:cs typeface="+mn-cs"/>
        </a:defRPr>
      </a:lvl1pPr>
      <a:lvl2pPr marL="200030" indent="-100015" algn="l" rtl="0" eaLnBrk="0" fontAlgn="base" hangingPunct="0">
        <a:spcBef>
          <a:spcPct val="20000"/>
        </a:spcBef>
        <a:spcAft>
          <a:spcPct val="20000"/>
        </a:spcAft>
        <a:buClr>
          <a:schemeClr val="tx1"/>
        </a:buClr>
        <a:buFont typeface="ITC Avant Garde Gothic" pitchFamily="34" charset="0"/>
        <a:buChar char="–"/>
        <a:defRPr kumimoji="1" sz="731">
          <a:solidFill>
            <a:schemeClr val="tx1"/>
          </a:solidFill>
          <a:latin typeface="+mn-lt"/>
          <a:ea typeface="+mn-ea"/>
        </a:defRPr>
      </a:lvl2pPr>
      <a:lvl3pPr marL="300938" indent="-100015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kumimoji="1" sz="675">
          <a:solidFill>
            <a:schemeClr val="tx1"/>
          </a:solidFill>
          <a:latin typeface="+mn-lt"/>
          <a:ea typeface="+mn-ea"/>
        </a:defRPr>
      </a:lvl3pPr>
      <a:lvl4pPr marL="900135" indent="-128591" algn="l" rtl="0" eaLnBrk="0" fontAlgn="base" latinLnBrk="1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kumimoji="1" sz="900">
          <a:solidFill>
            <a:schemeClr val="tx1"/>
          </a:solidFill>
          <a:latin typeface="굴림" charset="-127"/>
          <a:ea typeface="굴림" charset="-127"/>
        </a:defRPr>
      </a:lvl4pPr>
      <a:lvl5pPr marL="1157317" indent="-128591" algn="l" rtl="0" eaLnBrk="0" fontAlgn="base" latinLnBrk="1" hangingPunct="0">
        <a:spcBef>
          <a:spcPct val="20000"/>
        </a:spcBef>
        <a:spcAft>
          <a:spcPct val="0"/>
        </a:spcAft>
        <a:buClr>
          <a:schemeClr val="tx1"/>
        </a:buClr>
        <a:buChar char="»"/>
        <a:defRPr kumimoji="1" sz="788">
          <a:solidFill>
            <a:schemeClr val="tx1"/>
          </a:solidFill>
          <a:latin typeface="굴림" charset="-127"/>
          <a:ea typeface="굴림" charset="-127"/>
        </a:defRPr>
      </a:lvl5pPr>
      <a:lvl6pPr marL="1414498" indent="-128591" algn="l" rtl="0" fontAlgn="base" latinLnBrk="1">
        <a:spcBef>
          <a:spcPct val="20000"/>
        </a:spcBef>
        <a:spcAft>
          <a:spcPct val="0"/>
        </a:spcAft>
        <a:buClr>
          <a:schemeClr val="tx1"/>
        </a:buClr>
        <a:buChar char="»"/>
        <a:defRPr kumimoji="1" sz="788">
          <a:solidFill>
            <a:schemeClr val="tx1"/>
          </a:solidFill>
          <a:latin typeface="굴림" charset="-127"/>
          <a:ea typeface="굴림" charset="-127"/>
        </a:defRPr>
      </a:lvl6pPr>
      <a:lvl7pPr marL="1671680" indent="-128591" algn="l" rtl="0" fontAlgn="base" latinLnBrk="1">
        <a:spcBef>
          <a:spcPct val="20000"/>
        </a:spcBef>
        <a:spcAft>
          <a:spcPct val="0"/>
        </a:spcAft>
        <a:buClr>
          <a:schemeClr val="tx1"/>
        </a:buClr>
        <a:buChar char="»"/>
        <a:defRPr kumimoji="1" sz="788">
          <a:solidFill>
            <a:schemeClr val="tx1"/>
          </a:solidFill>
          <a:latin typeface="굴림" charset="-127"/>
          <a:ea typeface="굴림" charset="-127"/>
        </a:defRPr>
      </a:lvl7pPr>
      <a:lvl8pPr marL="1928861" indent="-128591" algn="l" rtl="0" fontAlgn="base" latinLnBrk="1">
        <a:spcBef>
          <a:spcPct val="20000"/>
        </a:spcBef>
        <a:spcAft>
          <a:spcPct val="0"/>
        </a:spcAft>
        <a:buClr>
          <a:schemeClr val="tx1"/>
        </a:buClr>
        <a:buChar char="»"/>
        <a:defRPr kumimoji="1" sz="788">
          <a:solidFill>
            <a:schemeClr val="tx1"/>
          </a:solidFill>
          <a:latin typeface="굴림" charset="-127"/>
          <a:ea typeface="굴림" charset="-127"/>
        </a:defRPr>
      </a:lvl8pPr>
      <a:lvl9pPr marL="2186042" indent="-128591" algn="l" rtl="0" fontAlgn="base" latinLnBrk="1">
        <a:spcBef>
          <a:spcPct val="20000"/>
        </a:spcBef>
        <a:spcAft>
          <a:spcPct val="0"/>
        </a:spcAft>
        <a:buClr>
          <a:schemeClr val="tx1"/>
        </a:buClr>
        <a:buChar char="»"/>
        <a:defRPr kumimoji="1" sz="788">
          <a:solidFill>
            <a:schemeClr val="tx1"/>
          </a:solidFill>
          <a:latin typeface="굴림" charset="-127"/>
          <a:ea typeface="굴림" charset="-127"/>
        </a:defRPr>
      </a:lvl9pPr>
    </p:bodyStyle>
    <p:otherStyle>
      <a:defPPr>
        <a:defRPr lang="ko-KR"/>
      </a:defPPr>
      <a:lvl1pPr marL="0" algn="l" defTabSz="514363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82" algn="l" defTabSz="514363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63" algn="l" defTabSz="514363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45" algn="l" defTabSz="514363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26" algn="l" defTabSz="514363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907" algn="l" defTabSz="514363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89" algn="l" defTabSz="514363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70" algn="l" defTabSz="514363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51" algn="l" defTabSz="514363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18013" y="465540"/>
            <a:ext cx="8508023" cy="47386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none" lIns="9000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 err="1"/>
              <a:t>경영회의</a:t>
            </a:r>
            <a:r>
              <a:rPr lang="ko-KR" altLang="en-US" dirty="0"/>
              <a:t> 양식</a:t>
            </a:r>
            <a:endParaRPr lang="en-US" altLang="ko-KR" dirty="0"/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50635" y="1383508"/>
            <a:ext cx="7816363" cy="3209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Jbold</a:t>
            </a:r>
          </a:p>
          <a:p>
            <a:pPr lvl="1"/>
            <a:r>
              <a:rPr lang="en-US" altLang="ko-KR"/>
              <a:t>Jbold</a:t>
            </a:r>
          </a:p>
          <a:p>
            <a:pPr lvl="2"/>
            <a:r>
              <a:rPr lang="en-US" altLang="ko-KR"/>
              <a:t>12</a:t>
            </a:r>
            <a:r>
              <a:rPr lang="ko-KR" altLang="en-US"/>
              <a:t>포인트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4926842"/>
            <a:ext cx="2133600" cy="1607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latinLnBrk="0">
              <a:lnSpc>
                <a:spcPct val="100000"/>
              </a:lnSpc>
              <a:buFontTx/>
              <a:buNone/>
              <a:defRPr>
                <a:latin typeface="+mj-lt"/>
              </a:defRPr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71369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  <p:sldLayoutId id="2147483750" r:id="rId12"/>
    <p:sldLayoutId id="2147483751" r:id="rId13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>
          <a:solidFill>
            <a:schemeClr val="tx1"/>
          </a:solidFill>
          <a:latin typeface="Tahoma" pitchFamily="34" charset="0"/>
          <a:ea typeface="JBold" pitchFamily="18" charset="-127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>
          <a:solidFill>
            <a:schemeClr val="tx1"/>
          </a:solidFill>
          <a:latin typeface="Tahoma" pitchFamily="34" charset="0"/>
          <a:ea typeface="JBold" pitchFamily="18" charset="-127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>
          <a:solidFill>
            <a:schemeClr val="tx1"/>
          </a:solidFill>
          <a:latin typeface="Tahoma" pitchFamily="34" charset="0"/>
          <a:ea typeface="JBold" pitchFamily="18" charset="-127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>
          <a:solidFill>
            <a:schemeClr val="tx1"/>
          </a:solidFill>
          <a:latin typeface="Tahoma" pitchFamily="34" charset="0"/>
          <a:ea typeface="JBold" pitchFamily="18" charset="-127"/>
        </a:defRPr>
      </a:lvl5pPr>
      <a:lvl6pPr marL="257176" algn="l" rtl="0" fontAlgn="base">
        <a:spcBef>
          <a:spcPct val="0"/>
        </a:spcBef>
        <a:spcAft>
          <a:spcPct val="0"/>
        </a:spcAft>
        <a:defRPr kumimoji="1">
          <a:solidFill>
            <a:schemeClr val="tx1"/>
          </a:solidFill>
          <a:latin typeface="Tahoma" pitchFamily="34" charset="0"/>
          <a:ea typeface="JBold" pitchFamily="18" charset="-127"/>
        </a:defRPr>
      </a:lvl6pPr>
      <a:lvl7pPr marL="514350" algn="l" rtl="0" fontAlgn="base">
        <a:spcBef>
          <a:spcPct val="0"/>
        </a:spcBef>
        <a:spcAft>
          <a:spcPct val="0"/>
        </a:spcAft>
        <a:defRPr kumimoji="1">
          <a:solidFill>
            <a:schemeClr val="tx1"/>
          </a:solidFill>
          <a:latin typeface="Tahoma" pitchFamily="34" charset="0"/>
          <a:ea typeface="JBold" pitchFamily="18" charset="-127"/>
        </a:defRPr>
      </a:lvl7pPr>
      <a:lvl8pPr marL="771525" algn="l" rtl="0" fontAlgn="base">
        <a:spcBef>
          <a:spcPct val="0"/>
        </a:spcBef>
        <a:spcAft>
          <a:spcPct val="0"/>
        </a:spcAft>
        <a:defRPr kumimoji="1">
          <a:solidFill>
            <a:schemeClr val="tx1"/>
          </a:solidFill>
          <a:latin typeface="Tahoma" pitchFamily="34" charset="0"/>
          <a:ea typeface="JBold" pitchFamily="18" charset="-127"/>
        </a:defRPr>
      </a:lvl8pPr>
      <a:lvl9pPr marL="1028701" algn="l" rtl="0" fontAlgn="base">
        <a:spcBef>
          <a:spcPct val="0"/>
        </a:spcBef>
        <a:spcAft>
          <a:spcPct val="0"/>
        </a:spcAft>
        <a:defRPr kumimoji="1">
          <a:solidFill>
            <a:schemeClr val="tx1"/>
          </a:solidFill>
          <a:latin typeface="Tahoma" pitchFamily="34" charset="0"/>
          <a:ea typeface="JBold" pitchFamily="18" charset="-127"/>
        </a:defRPr>
      </a:lvl9pPr>
    </p:titleStyle>
    <p:bodyStyle>
      <a:lvl1pPr marL="99120" indent="-99120" algn="l" rtl="0" eaLnBrk="0" fontAlgn="base" hangingPunct="0">
        <a:spcBef>
          <a:spcPct val="50000"/>
        </a:spcBef>
        <a:spcAft>
          <a:spcPct val="20000"/>
        </a:spcAft>
        <a:buClr>
          <a:schemeClr val="tx1"/>
        </a:buClr>
        <a:buFont typeface="Wingdings" pitchFamily="2" charset="2"/>
        <a:buChar char="§"/>
        <a:defRPr kumimoji="1" sz="788">
          <a:solidFill>
            <a:schemeClr val="tx1"/>
          </a:solidFill>
          <a:latin typeface="+mn-lt"/>
          <a:ea typeface="+mn-ea"/>
          <a:cs typeface="+mn-cs"/>
        </a:defRPr>
      </a:lvl1pPr>
      <a:lvl2pPr marL="200025" indent="-100013" algn="l" rtl="0" eaLnBrk="0" fontAlgn="base" hangingPunct="0">
        <a:spcBef>
          <a:spcPct val="20000"/>
        </a:spcBef>
        <a:spcAft>
          <a:spcPct val="20000"/>
        </a:spcAft>
        <a:buClr>
          <a:schemeClr val="tx1"/>
        </a:buClr>
        <a:buFont typeface="ITC Avant Garde Gothic" pitchFamily="34" charset="0"/>
        <a:buChar char="–"/>
        <a:defRPr kumimoji="1" sz="731">
          <a:solidFill>
            <a:schemeClr val="tx1"/>
          </a:solidFill>
          <a:latin typeface="+mn-lt"/>
          <a:ea typeface="+mn-ea"/>
        </a:defRPr>
      </a:lvl2pPr>
      <a:lvl3pPr marL="300931" indent="-100013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kumimoji="1" sz="675">
          <a:solidFill>
            <a:schemeClr val="tx1"/>
          </a:solidFill>
          <a:latin typeface="+mn-lt"/>
          <a:ea typeface="+mn-ea"/>
        </a:defRPr>
      </a:lvl3pPr>
      <a:lvl4pPr marL="900113" indent="-128588" algn="l" rtl="0" eaLnBrk="0" fontAlgn="base" latinLnBrk="1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kumimoji="1" sz="900">
          <a:solidFill>
            <a:schemeClr val="tx1"/>
          </a:solidFill>
          <a:latin typeface="굴림" charset="-127"/>
          <a:ea typeface="굴림" charset="-127"/>
        </a:defRPr>
      </a:lvl4pPr>
      <a:lvl5pPr marL="1157288" indent="-128588" algn="l" rtl="0" eaLnBrk="0" fontAlgn="base" latinLnBrk="1" hangingPunct="0">
        <a:spcBef>
          <a:spcPct val="20000"/>
        </a:spcBef>
        <a:spcAft>
          <a:spcPct val="0"/>
        </a:spcAft>
        <a:buClr>
          <a:schemeClr val="tx1"/>
        </a:buClr>
        <a:buChar char="»"/>
        <a:defRPr kumimoji="1" sz="788">
          <a:solidFill>
            <a:schemeClr val="tx1"/>
          </a:solidFill>
          <a:latin typeface="굴림" charset="-127"/>
          <a:ea typeface="굴림" charset="-127"/>
        </a:defRPr>
      </a:lvl5pPr>
      <a:lvl6pPr marL="1414463" indent="-128588" algn="l" rtl="0" fontAlgn="base" latinLnBrk="1">
        <a:spcBef>
          <a:spcPct val="20000"/>
        </a:spcBef>
        <a:spcAft>
          <a:spcPct val="0"/>
        </a:spcAft>
        <a:buClr>
          <a:schemeClr val="tx1"/>
        </a:buClr>
        <a:buChar char="»"/>
        <a:defRPr kumimoji="1" sz="788">
          <a:solidFill>
            <a:schemeClr val="tx1"/>
          </a:solidFill>
          <a:latin typeface="굴림" charset="-127"/>
          <a:ea typeface="굴림" charset="-127"/>
        </a:defRPr>
      </a:lvl6pPr>
      <a:lvl7pPr marL="1671638" indent="-128588" algn="l" rtl="0" fontAlgn="base" latinLnBrk="1">
        <a:spcBef>
          <a:spcPct val="20000"/>
        </a:spcBef>
        <a:spcAft>
          <a:spcPct val="0"/>
        </a:spcAft>
        <a:buClr>
          <a:schemeClr val="tx1"/>
        </a:buClr>
        <a:buChar char="»"/>
        <a:defRPr kumimoji="1" sz="788">
          <a:solidFill>
            <a:schemeClr val="tx1"/>
          </a:solidFill>
          <a:latin typeface="굴림" charset="-127"/>
          <a:ea typeface="굴림" charset="-127"/>
        </a:defRPr>
      </a:lvl7pPr>
      <a:lvl8pPr marL="1928813" indent="-128588" algn="l" rtl="0" fontAlgn="base" latinLnBrk="1">
        <a:spcBef>
          <a:spcPct val="20000"/>
        </a:spcBef>
        <a:spcAft>
          <a:spcPct val="0"/>
        </a:spcAft>
        <a:buClr>
          <a:schemeClr val="tx1"/>
        </a:buClr>
        <a:buChar char="»"/>
        <a:defRPr kumimoji="1" sz="788">
          <a:solidFill>
            <a:schemeClr val="tx1"/>
          </a:solidFill>
          <a:latin typeface="굴림" charset="-127"/>
          <a:ea typeface="굴림" charset="-127"/>
        </a:defRPr>
      </a:lvl8pPr>
      <a:lvl9pPr marL="2185988" indent="-128588" algn="l" rtl="0" fontAlgn="base" latinLnBrk="1">
        <a:spcBef>
          <a:spcPct val="20000"/>
        </a:spcBef>
        <a:spcAft>
          <a:spcPct val="0"/>
        </a:spcAft>
        <a:buClr>
          <a:schemeClr val="tx1"/>
        </a:buClr>
        <a:buChar char="»"/>
        <a:defRPr kumimoji="1" sz="788">
          <a:solidFill>
            <a:schemeClr val="tx1"/>
          </a:solidFill>
          <a:latin typeface="굴림" charset="-127"/>
          <a:ea typeface="굴림" charset="-127"/>
        </a:defRPr>
      </a:lvl9pPr>
    </p:bodyStyle>
    <p:otherStyle>
      <a:defPPr>
        <a:defRPr lang="ko-KR"/>
      </a:defPPr>
      <a:lvl1pPr marL="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6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1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1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399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59FF173-3519-4C57-BD85-9746420FBE3E}"/>
              </a:ext>
            </a:extLst>
          </p:cNvPr>
          <p:cNvSpPr txBox="1"/>
          <p:nvPr/>
        </p:nvSpPr>
        <p:spPr>
          <a:xfrm>
            <a:off x="0" y="2211700"/>
            <a:ext cx="9144000" cy="504000"/>
          </a:xfrm>
          <a:prstGeom prst="rect">
            <a:avLst/>
          </a:prstGeom>
          <a:solidFill>
            <a:srgbClr val="66B826"/>
          </a:solidFill>
          <a:ln>
            <a:noFill/>
          </a:ln>
        </p:spPr>
        <p:txBody>
          <a:bodyPr wrap="square" rtlCol="0" anchor="ctr">
            <a:spAutoFit/>
          </a:bodyPr>
          <a:lstStyle>
            <a:defPPr>
              <a:defRPr lang="ko-KR"/>
            </a:defPPr>
            <a:lvl1pPr algn="ctr">
              <a:defRPr sz="1200" b="1" spc="-80">
                <a:ln>
                  <a:solidFill>
                    <a:srgbClr val="BBE0E3">
                      <a:alpha val="0"/>
                    </a:srgbClr>
                  </a:solidFill>
                </a:ln>
                <a:solidFill>
                  <a:schemeClr val="bg1"/>
                </a:solidFill>
                <a:latin typeface="CJ ONLYONE NEW 본문 Regular" panose="00000500000000000000" pitchFamily="2" charset="-127"/>
                <a:ea typeface="CJ ONLYONE NEW 본문 Regular" panose="00000500000000000000" pitchFamily="2" charset="-127"/>
              </a:defRPr>
            </a:lvl1pPr>
          </a:lstStyle>
          <a:p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올리브영 상품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· 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브랜드 입점 제안서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C47FB61C-6189-4220-AC6C-46CAC0087B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9890" y="4227980"/>
            <a:ext cx="1440200" cy="2466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0" y="2788920"/>
            <a:ext cx="9144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1F3864"/>
                </a:solidFill>
                <a:latin typeface="맑은 고딕"/>
              </a:rPr>
              <a:t>SLOBODA · 슬로보다 No.7 리커버리 크림 — 임상 비자극(자극지수 0.00) 병풀잎수 데일리 장벽 크림</a:t>
            </a:r>
          </a:p>
        </p:txBody>
      </p:sp>
    </p:spTree>
    <p:extLst>
      <p:ext uri="{BB962C8B-B14F-4D97-AF65-F5344CB8AC3E}">
        <p14:creationId xmlns:p14="http://schemas.microsoft.com/office/powerpoint/2010/main" val="19909976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66D25FB3-44BE-436D-B781-F161DDBAC72B}"/>
              </a:ext>
            </a:extLst>
          </p:cNvPr>
          <p:cNvSpPr/>
          <p:nvPr/>
        </p:nvSpPr>
        <p:spPr bwMode="auto">
          <a:xfrm>
            <a:off x="316150" y="555473"/>
            <a:ext cx="8723069" cy="4525223"/>
          </a:xfrm>
          <a:prstGeom prst="rect">
            <a:avLst/>
          </a:prstGeom>
          <a:pattFill prst="pct20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 w="6350">
            <a:solidFill>
              <a:srgbClr val="66B826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J ONLYONE NEW 본문 Regular" panose="00000500000000000000" pitchFamily="2" charset="-127"/>
              <a:ea typeface="CJ ONLYONE NEW 본문 Regular" panose="00000500000000000000" pitchFamily="2" charset="-127"/>
              <a:cs typeface="+mn-cs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C6233E6D-B7A2-4C9B-9D36-920306F1EF69}"/>
              </a:ext>
            </a:extLst>
          </p:cNvPr>
          <p:cNvCxnSpPr>
            <a:cxnSpLocks/>
          </p:cNvCxnSpPr>
          <p:nvPr/>
        </p:nvCxnSpPr>
        <p:spPr bwMode="auto">
          <a:xfrm>
            <a:off x="331030" y="404970"/>
            <a:ext cx="8417550" cy="0"/>
          </a:xfrm>
          <a:prstGeom prst="line">
            <a:avLst/>
          </a:prstGeom>
          <a:solidFill>
            <a:schemeClr val="accent1"/>
          </a:solidFill>
          <a:ln w="6350" cap="flat" cmpd="sng" algn="ctr">
            <a:solidFill>
              <a:schemeClr val="bg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E575031-4AC2-478D-BCB9-FFE84F7093D5}"/>
              </a:ext>
            </a:extLst>
          </p:cNvPr>
          <p:cNvSpPr txBox="1"/>
          <p:nvPr/>
        </p:nvSpPr>
        <p:spPr>
          <a:xfrm>
            <a:off x="316150" y="561423"/>
            <a:ext cx="2843760" cy="292388"/>
          </a:xfrm>
          <a:prstGeom prst="rect">
            <a:avLst/>
          </a:prstGeom>
          <a:solidFill>
            <a:srgbClr val="66B826"/>
          </a:solidFill>
          <a:ln>
            <a:noFill/>
          </a:ln>
        </p:spPr>
        <p:txBody>
          <a:bodyPr wrap="square" rtlCol="0" anchor="ctr">
            <a:spAutoFit/>
          </a:bodyPr>
          <a:lstStyle>
            <a:defPPr>
              <a:defRPr lang="ko-KR"/>
            </a:defPPr>
            <a:lvl1pPr algn="ctr">
              <a:defRPr sz="1200" b="1" spc="-80">
                <a:ln>
                  <a:solidFill>
                    <a:srgbClr val="BBE0E3">
                      <a:alpha val="0"/>
                    </a:srgbClr>
                  </a:solidFill>
                </a:ln>
                <a:solidFill>
                  <a:schemeClr val="bg1"/>
                </a:solidFill>
                <a:latin typeface="CJ ONLYONE NEW 본문 Regular" panose="00000500000000000000" pitchFamily="2" charset="-127"/>
                <a:ea typeface="CJ ONLYONE NEW 본문 Regular" panose="00000500000000000000" pitchFamily="2" charset="-127"/>
              </a:defRPr>
            </a:lvl1pPr>
          </a:lstStyle>
          <a:p>
            <a:r>
              <a:rPr lang="ko-KR" altLang="en-US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제안사 기본 정보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A9E74757-B8FB-4C70-B6F4-2AE4629127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384187"/>
              </p:ext>
            </p:extLst>
          </p:nvPr>
        </p:nvGraphicFramePr>
        <p:xfrm>
          <a:off x="387939" y="1026004"/>
          <a:ext cx="8143001" cy="3838077"/>
        </p:xfrm>
        <a:graphic>
          <a:graphicData uri="http://schemas.openxmlformats.org/drawingml/2006/table">
            <a:tbl>
              <a:tblPr/>
              <a:tblGrid>
                <a:gridCol w="20830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599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833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구분</a:t>
                      </a:r>
                    </a:p>
                  </a:txBody>
                  <a:tcPr marL="479" marR="479" marT="479" marB="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4823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내용</a:t>
                      </a:r>
                    </a:p>
                  </a:txBody>
                  <a:tcPr marL="479" marR="479" marT="479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482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28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회사명</a:t>
                      </a:r>
                    </a:p>
                  </a:txBody>
                  <a:tcPr marL="479" marR="479" marT="479" marB="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 lIns="38100" rIns="38100" tIns="38100" bIns="38100" wrap="square"/>
                    <a:lstStyle/>
                    <a:p>
                      <a:pPr algn="l" fontAlgn="ctr"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sz="700" b="1">
                          <a:solidFill>
                            <a:srgbClr val="1F3864"/>
                          </a:solidFill>
                          <a:latin typeface="맑은 고딕"/>
                        </a:rPr>
                        <a:t>[계약·정산 주체 확정 = 협상의 전제]</a:t>
                      </a: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sz="700">
                          <a:solidFill>
                            <a:srgbClr val="212121"/>
                          </a:solidFill>
                          <a:latin typeface="맑은 고딕"/>
                        </a:rPr>
                        <a:t>· 화장품책임판매업자(계약·세금계산서 발행 주체): (주)[기입] / 사업자등록번호 [기입] / 책임판매업 등록번호 [기입]</a:t>
                      </a: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sz="700">
                          <a:solidFill>
                            <a:srgbClr val="212121"/>
                          </a:solidFill>
                          <a:latin typeface="맑은 고딕"/>
                        </a:rPr>
                        <a:t>· 제조업자(OEM): 허니스트 (CGMP 적합·ISO22716 인증 여부 [확인·명기])</a:t>
                      </a: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sz="700">
                          <a:solidFill>
                            <a:srgbClr val="212121"/>
                          </a:solidFill>
                          <a:latin typeface="맑은 고딕"/>
                        </a:rPr>
                        <a:t>· 상표권: 'SLOBODA' 출원/등록번호 [기입] — 브랜드 소유권 확정</a:t>
                      </a: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sz="600">
                          <a:solidFill>
                            <a:srgbClr val="777777"/>
                          </a:solidFill>
                          <a:latin typeface="맑은 고딕"/>
                        </a:rPr>
                        <a:t>※ '와디즈 운영 표기명(슬로보다 코스메틱)'은 유통 표기일 뿐, MD의 계약 상대는 위 책임판매법인. 이건 협상이 아니라 신원 확인.</a:t>
                      </a:r>
                    </a:p>
                  </a:txBody>
                  <a:tcPr marL="479" marR="479" marT="479" marB="0" anchor="t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612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브랜드명</a:t>
                      </a:r>
                    </a:p>
                  </a:txBody>
                  <a:tcPr marL="479" marR="479" marT="479" marB="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 lIns="38100" rIns="38100" tIns="38100" bIns="38100" wrap="square"/>
                    <a:lstStyle/>
                    <a:p>
                      <a:pPr algn="l" fontAlgn="ctr"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sz="700">
                          <a:solidFill>
                            <a:srgbClr val="212121"/>
                          </a:solidFill>
                          <a:latin typeface="맑은 고딕"/>
                        </a:rPr>
                        <a:t>슬로보다 (SLOBODA)</a:t>
                      </a: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sz="700">
                          <a:solidFill>
                            <a:srgbClr val="212121"/>
                          </a:solidFill>
                          <a:latin typeface="맑은 고딕"/>
                        </a:rPr>
                        <a:t>· 네이밍: 슬라브어 '자유(freedom)' → '스킨케어 단계로부터의 자유' — 크림 하나로 끝내는 데일리 장벽 케어 (브랜드명–컨셉–소구를 한 줄로 관통). 공식 브랜드 서사 확정 [기입]</a:t>
                      </a: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sz="700">
                          <a:solidFill>
                            <a:srgbClr val="212121"/>
                          </a:solidFill>
                          <a:latin typeface="맑은 고딕"/>
                        </a:rPr>
                        <a:t>· 대표 라인: No.7 리커버리(Recovery) — 히어로 단일 SKU</a:t>
                      </a: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sz="700">
                          <a:solidFill>
                            <a:srgbClr val="212121"/>
                          </a:solidFill>
                          <a:latin typeface="맑은 고딕"/>
                        </a:rPr>
                        <a:t>· 제안 태그라인(심의 안전형): "병풀잎수 베이스 처방, [○○기관] 인체적용시험 비자극 판정(자극지수 0.00) — 시술 후 매일 쓰는 데일리 장벽 크림"</a:t>
                      </a: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sz="600">
                          <a:solidFill>
                            <a:srgbClr val="777777"/>
                          </a:solidFill>
                          <a:latin typeface="맑은 고딕"/>
                        </a:rPr>
                        <a:t>※ '자극지수 0.00'은 단독 슬로건 금지. 반드시 기관·시험번호 각주와 세트로만 노출.</a:t>
                      </a:r>
                    </a:p>
                  </a:txBody>
                  <a:tcPr marL="479" marR="479" marT="479" marB="0" anchor="t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0928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주요 </a:t>
                      </a:r>
                      <a:r>
                        <a:rPr lang="ko-KR" altLang="en-US" sz="105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상품군</a:t>
                      </a:r>
                      <a:endParaRPr lang="ko-KR" altLang="en-US" sz="105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79" marR="479" marT="479" marB="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 lIns="38100" rIns="38100" tIns="38100" bIns="38100" wrap="square"/>
                    <a:lstStyle/>
                    <a:p>
                      <a:pPr algn="l" fontAlgn="ctr"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sz="700">
                          <a:solidFill>
                            <a:srgbClr val="212121"/>
                          </a:solidFill>
                          <a:latin typeface="맑은 고딕"/>
                        </a:rPr>
                        <a:t>더마코스메틱 / 시카(병풀)·피부장벽·진정 데일리 크림</a:t>
                      </a:r>
                      <a:endParaRPr lang="ko-KR" altLang="en-US" sz="105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sz="700">
                          <a:solidFill>
                            <a:srgbClr val="212121"/>
                          </a:solidFill>
                          <a:latin typeface="맑은 고딕"/>
                        </a:rPr>
                        <a:t>· 핵심 소구축(레드오션 회피): 함량 경쟁이 아니라 '안전성 정량화(임상 자극 수치)' + '시술 후 리커버리' 사용맥락</a:t>
                      </a: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sz="700">
                          <a:solidFill>
                            <a:srgbClr val="212121"/>
                          </a:solidFill>
                          <a:latin typeface="맑은 고딕"/>
                        </a:rPr>
                        <a:t>· 올리브영 매칭: 스킨케어 &gt; 크림 &gt; 더마·진정(시카) 존 / '시술후케어' 검색 슬롯</a:t>
                      </a: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sz="600">
                          <a:solidFill>
                            <a:srgbClr val="777777"/>
                          </a:solidFill>
                          <a:latin typeface="맑은 고딕"/>
                        </a:rPr>
                        <a:t>※ '재생'은 화장품 표시광고 심의 단골 지적어 — 카테고리·소구에서 '진정·보습·피부장벽 케어'로 통일.</a:t>
                      </a:r>
                    </a:p>
                  </a:txBody>
                  <a:tcPr marL="479" marR="479" marT="479" marB="0" anchor="t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076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b="0" i="0" u="none" strike="noStrike" dirty="0">
                          <a:solidFill>
                            <a:srgbClr val="0D0D0D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주요 타겟 고객</a:t>
                      </a:r>
                      <a:endParaRPr lang="en-US" altLang="ko-KR" sz="1050" b="0" i="0" u="none" strike="noStrike" dirty="0">
                        <a:solidFill>
                          <a:srgbClr val="0D0D0D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79" marR="479" marT="479" marB="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 lIns="38100" rIns="38100" tIns="38100" bIns="38100" wrap="square"/>
                    <a:lstStyle/>
                    <a:p>
                      <a:pPr algn="l" fontAlgn="ctr"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sz="700">
                          <a:solidFill>
                            <a:srgbClr val="212121"/>
                          </a:solidFill>
                          <a:latin typeface="맑은 고딕"/>
                        </a:rPr>
                        <a:t>· 1차(전면화): 미용시술 후 진정·홈케어 수요층 — 시술비 20~30만원 지출 뒤 4.3만원 홈케어는 '저렴한 마무리'. 지불의향이 가장 높고 가격저항이 가장 낮은 앵커 카테고리</a:t>
                      </a: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sz="700">
                          <a:solidFill>
                            <a:srgbClr val="212121"/>
                          </a:solidFill>
                          <a:latin typeface="맑은 고딕"/>
                        </a:rPr>
                        <a:t>· 2차: 민감성 자기인식 소비자 20~40대 (인용 통계는 1차 출처 명기 후에만 사용 [기입])</a:t>
                      </a: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sz="700">
                          <a:solidFill>
                            <a:srgbClr val="212121"/>
                          </a:solidFill>
                          <a:latin typeface="맑은 고딕"/>
                        </a:rPr>
                        <a:t>· 3차: 성분·미니멀 루틴 지향 + 인바운드 외국인(K-더마)</a:t>
                      </a: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sz="600">
                          <a:solidFill>
                            <a:srgbClr val="777777"/>
                          </a:solidFill>
                          <a:latin typeface="맑은 고딕"/>
                        </a:rPr>
                        <a:t>※ 우선순위를 '민감성 일반'에서 '시술후 리커버리'로 상향 — 43,000원을 정당화하는 지불층을 앞세워 가격 프레임을 이동.</a:t>
                      </a:r>
                    </a:p>
                  </a:txBody>
                  <a:tcPr marL="479" marR="479" marT="479" marB="0" anchor="t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0239212"/>
                  </a:ext>
                </a:extLst>
              </a:tr>
              <a:tr h="47875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b="0" i="0" u="none" strike="noStrike" dirty="0">
                          <a:solidFill>
                            <a:srgbClr val="0D0D0D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주요 입점 채널</a:t>
                      </a:r>
                      <a:r>
                        <a:rPr lang="en-US" altLang="ko-KR" sz="1050" b="0" i="0" u="none" strike="noStrike" dirty="0">
                          <a:solidFill>
                            <a:srgbClr val="0D0D0D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050" b="0" i="0" u="none" strike="noStrike" dirty="0">
                          <a:solidFill>
                            <a:srgbClr val="0D0D0D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국내</a:t>
                      </a:r>
                      <a:r>
                        <a:rPr lang="en-US" altLang="ko-KR" sz="1050" b="0" i="0" u="none" strike="noStrike" dirty="0">
                          <a:solidFill>
                            <a:srgbClr val="0D0D0D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479" marR="479" marT="479" marB="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 lIns="38100" rIns="38100" tIns="38100" bIns="38100" wrap="square"/>
                    <a:lstStyle/>
                    <a:p>
                      <a:pPr algn="l" fontAlgn="ctr"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sz="700">
                          <a:solidFill>
                            <a:srgbClr val="212121"/>
                          </a:solidFill>
                          <a:latin typeface="맑은 고딕"/>
                        </a:rPr>
                        <a:t>· 네이버 스마트스토어(SLOBODA 공식몰): 43,000원(정가 48,000원) — 누적 판매·리뷰·평점·재구매율 [기입, 회전율 증명의 핵심]</a:t>
                      </a:r>
                      <a:endParaRPr lang="ko-KR" altLang="en-US" sz="105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sz="700">
                          <a:solidFill>
                            <a:srgbClr val="212121"/>
                          </a:solidFill>
                          <a:latin typeface="맑은 고딕"/>
                        </a:rPr>
                        <a:t>· 쿠팡: No.7 병풀 리커버리 크림 50ml — 등록명 내 'EGF/재생' 표현은 정식 성분명·'진정' 표현으로 정정 예정(심의)</a:t>
                      </a: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sz="700">
                          <a:solidFill>
                            <a:srgbClr val="212121"/>
                          </a:solidFill>
                          <a:latin typeface="맑은 고딕"/>
                        </a:rPr>
                        <a:t>· 와디즈 #408720: 달성률·후원자 수 [기입] — 강한 수치일 때만 실적으로 노출, 약하면 삭제(할인 리워드 수요는 가격저항 증거로 역해석될 수 있음)</a:t>
                      </a: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sz="700">
                          <a:solidFill>
                            <a:srgbClr val="212121"/>
                          </a:solidFill>
                          <a:latin typeface="맑은 고딕"/>
                        </a:rPr>
                        <a:t>· 병원(피부과 등) B2B: '시술 후 홈케어용으로 병원 채널에 공급'. 납품처 수·거래명세 [기입]</a:t>
                      </a: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sz="600">
                          <a:solidFill>
                            <a:srgbClr val="777777"/>
                          </a:solidFill>
                          <a:latin typeface="맑은 고딕"/>
                        </a:rPr>
                        <a:t>※ '피부과가 먼저 선택/추천' 표현 금지(의료인 추천 오인). 거래명세로 뒷받침 안 되면 병원 문구 전면 삭제.</a:t>
                      </a:r>
                    </a:p>
                  </a:txBody>
                  <a:tcPr marL="479" marR="479" marT="479" marB="0" anchor="t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78755">
                <a:tc>
                  <a:txBody>
                    <a:bodyPr/>
                    <a:lstStyle/>
                    <a:p>
                      <a:pPr marL="0" marR="0" lvl="0" indent="0" algn="ctr" defTabSz="51435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b="0" i="0" u="none" strike="noStrike" dirty="0">
                          <a:solidFill>
                            <a:srgbClr val="0D0D0D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주요 입점 채널</a:t>
                      </a:r>
                      <a:r>
                        <a:rPr lang="en-US" altLang="ko-KR" sz="1050" b="0" i="0" u="none" strike="noStrike" dirty="0">
                          <a:solidFill>
                            <a:srgbClr val="0D0D0D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050" b="0" i="0" u="none" strike="noStrike" dirty="0">
                          <a:solidFill>
                            <a:srgbClr val="0D0D0D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해외</a:t>
                      </a:r>
                      <a:r>
                        <a:rPr lang="en-US" altLang="ko-KR" sz="1050" b="0" i="0" u="none" strike="noStrike" dirty="0">
                          <a:solidFill>
                            <a:srgbClr val="0D0D0D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479" marR="479" marT="479" marB="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 lIns="38100" rIns="38100" tIns="38100" bIns="38100" wrap="square"/>
                    <a:lstStyle/>
                    <a:p>
                      <a:pPr algn="l" fontAlgn="ctr"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sz="700">
                          <a:solidFill>
                            <a:srgbClr val="212121"/>
                          </a:solidFill>
                          <a:latin typeface="맑은 고딕"/>
                        </a:rPr>
                        <a:t>· 현재 해외 공식 입점: 없음 (초기 단계)</a:t>
                      </a: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sz="700">
                          <a:solidFill>
                            <a:srgbClr val="212121"/>
                          </a:solidFill>
                          <a:latin typeface="맑은 고딕"/>
                        </a:rPr>
                        <a:t>· 계획: 국내 온라인 회전율 증명 후 → 올리브영 글로벌몰(역직구) 기획전으로 인바운드 외국인 수요 흡수</a:t>
                      </a: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sz="700">
                          <a:solidFill>
                            <a:srgbClr val="212121"/>
                          </a:solidFill>
                          <a:latin typeface="맑은 고딕"/>
                        </a:rPr>
                        <a:t>· 확장 논리: 병풀잎수 베이스 + 임상 비자극은 외국인 구매 이유가 명확 → 글로벌몰 적합</a:t>
                      </a: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sz="600">
                          <a:solidFill>
                            <a:srgbClr val="777777"/>
                          </a:solidFill>
                          <a:latin typeface="맑은 고딕"/>
                        </a:rPr>
                        <a:t>※ 해외는 국내 실적 확보 후 단계 — 현 제안의 핵심 범위 아님(과확장 자제).</a:t>
                      </a:r>
                    </a:p>
                  </a:txBody>
                  <a:tcPr marL="479" marR="479" marT="479" marB="0" anchor="t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05434131"/>
                  </a:ext>
                </a:extLst>
              </a:tr>
              <a:tr h="433011">
                <a:tc>
                  <a:txBody>
                    <a:bodyPr/>
                    <a:lstStyle/>
                    <a:p>
                      <a:pPr marL="0" marR="0" lvl="0" indent="0" algn="ctr" defTabSz="51435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공식 홈페이지 주소</a:t>
                      </a:r>
                      <a:endParaRPr lang="en-US" altLang="ko-KR" sz="1050" b="0" i="0" u="none" strike="noStrike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479" marR="479" marT="479" marB="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 lIns="38100" rIns="38100" tIns="38100" bIns="38100" wrap="square"/>
                    <a:lstStyle/>
                    <a:p>
                      <a:pPr marL="0" algn="l" defTabSz="514350" rtl="0" eaLnBrk="1" fontAlgn="ctr" latinLnBrk="1" hangingPunct="1"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sz="700">
                          <a:solidFill>
                            <a:srgbClr val="212121"/>
                          </a:solidFill>
                          <a:latin typeface="맑은 고딕"/>
                        </a:rPr>
                        <a:t>· 공식몰: https://slobodacosmetics.com</a:t>
                      </a:r>
                      <a:endParaRPr lang="ko-KR" altLang="en-US" sz="1050" b="0" i="0" u="none" strike="noStrike" kern="12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sz="700">
                          <a:solidFill>
                            <a:srgbClr val="212121"/>
                          </a:solidFill>
                          <a:latin typeface="맑은 고딕"/>
                        </a:rPr>
                        <a:t>· 네이버 스마트스토어: https://smartstore.naver.com/main/products/13000817130</a:t>
                      </a: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sz="700">
                          <a:solidFill>
                            <a:srgbClr val="212121"/>
                          </a:solidFill>
                          <a:latin typeface="맑은 고딕"/>
                        </a:rPr>
                        <a:t>· 와디즈 캠페인: https://www.wadiz.kr/web/campaign/detail/408720</a:t>
                      </a: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sz="600">
                          <a:solidFill>
                            <a:srgbClr val="777777"/>
                          </a:solidFill>
                          <a:latin typeface="맑은 고딕"/>
                        </a:rPr>
                        <a:t>※ 제안서 첨부 필수(없으면 미완성 서류): 제품 이미지 4종 + 인체적용시험 성적서 원문 + 전성분표/배합의도서.</a:t>
                      </a:r>
                    </a:p>
                  </a:txBody>
                  <a:tcPr marL="479" marR="479" marT="479" marB="0" anchor="t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780121">
                <a:tc>
                  <a:txBody>
                    <a:bodyPr/>
                    <a:lstStyle/>
                    <a:p>
                      <a:pPr marL="0" marR="0" lvl="0" indent="0" algn="ctr" defTabSz="51435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회사 및</a:t>
                      </a:r>
                      <a:r>
                        <a:rPr lang="en-US" altLang="ko-KR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브랜드</a:t>
                      </a:r>
                      <a:endParaRPr lang="en-US" altLang="ko-KR" sz="1050" b="0" i="0" u="none" strike="noStrike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ctr" defTabSz="51435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주요 연혁</a:t>
                      </a:r>
                      <a:r>
                        <a:rPr lang="en-US" altLang="ko-KR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특이 사항 등</a:t>
                      </a:r>
                      <a:endParaRPr lang="en-US" altLang="ko-KR" sz="1050" b="0" i="0" u="none" strike="noStrike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479" marR="479" marT="479" marB="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 lIns="38100" rIns="38100" tIns="38100" bIns="38100" wrap="square"/>
                    <a:lstStyle/>
                    <a:p>
                      <a:pPr marL="0" marR="0" lvl="0" indent="0" algn="l" defTabSz="51435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700">
                          <a:solidFill>
                            <a:srgbClr val="212121"/>
                          </a:solidFill>
                          <a:latin typeface="맑은 고딕"/>
                        </a:rPr>
                        <a:t>· 화장품책임판매업 등록번호 [기입] / 제조: 허니스트 (CGMP 적합·ISO22716 [확인])</a:t>
                      </a:r>
                      <a:endParaRPr lang="en-US" altLang="ko-KR" sz="1050" b="0" i="0" u="none" strike="noStrike" kern="12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sz="700">
                          <a:solidFill>
                            <a:srgbClr val="212121"/>
                          </a:solidFill>
                          <a:latin typeface="맑은 고딕"/>
                        </a:rPr>
                        <a:t>· 설립연도·법인 연혁·제품(No.7) 출시일 [기입] — 협상이 아닌 '존재 증명' 필수 항목</a:t>
                      </a: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sz="700">
                          <a:solidFill>
                            <a:srgbClr val="212121"/>
                          </a:solidFill>
                          <a:latin typeface="맑은 고딕"/>
                        </a:rPr>
                        <a:t>· 브랜드 origin(MD가 반응하는 축): 창업자가 왜 '시술 후 진정 크림'을 만들었나 — 개인 서사·병원 협업 계기 3~4문장 [기입]</a:t>
                      </a: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sz="700">
                          <a:solidFill>
                            <a:srgbClr val="212121"/>
                          </a:solidFill>
                          <a:latin typeface="맑은 고딕"/>
                        </a:rPr>
                        <a:t>· 검증 사실: 일반+민감성 이중 일차자극 인체적용시험, 두 시험 모두 비자극 판정(자극지수 0.00). 시험기관/번호/피험자 수(n) [기입 — 이게 없으면 '0.00' 훅 자체가 무효]</a:t>
                      </a: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sz="700">
                          <a:solidFill>
                            <a:srgbClr val="212121"/>
                          </a:solidFill>
                          <a:latin typeface="맑은 고딕"/>
                        </a:rPr>
                        <a:t>· 포지셔닝: 병원 채널 공급 → D2C(네이버·쿠팡·와디즈) 확장한 초기 더마 브랜드</a:t>
                      </a:r>
                    </a:p>
                  </a:txBody>
                  <a:tcPr marL="479" marR="479" marT="479" marB="0" anchor="t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02BB2500-F4AF-4E0E-9798-A8ACCAAD7A79}"/>
              </a:ext>
            </a:extLst>
          </p:cNvPr>
          <p:cNvSpPr txBox="1"/>
          <p:nvPr/>
        </p:nvSpPr>
        <p:spPr>
          <a:xfrm>
            <a:off x="331030" y="62798"/>
            <a:ext cx="64390" cy="307777"/>
          </a:xfrm>
          <a:prstGeom prst="rect">
            <a:avLst/>
          </a:prstGeom>
          <a:solidFill>
            <a:srgbClr val="66B826"/>
          </a:solidFill>
          <a:ln>
            <a:noFill/>
          </a:ln>
        </p:spPr>
        <p:txBody>
          <a:bodyPr wrap="square" rtlCol="0" anchor="ctr">
            <a:spAutoFit/>
          </a:bodyPr>
          <a:lstStyle>
            <a:defPPr>
              <a:defRPr lang="ko-KR"/>
            </a:defPPr>
            <a:lvl1pPr algn="ctr">
              <a:defRPr sz="1200" b="1" spc="-80">
                <a:ln>
                  <a:solidFill>
                    <a:srgbClr val="BBE0E3">
                      <a:alpha val="0"/>
                    </a:srgbClr>
                  </a:solidFill>
                </a:ln>
                <a:solidFill>
                  <a:schemeClr val="bg1"/>
                </a:solidFill>
                <a:latin typeface="CJ ONLYONE NEW 본문 Regular" panose="00000500000000000000" pitchFamily="2" charset="-127"/>
                <a:ea typeface="CJ ONLYONE NEW 본문 Regular" panose="00000500000000000000" pitchFamily="2" charset="-127"/>
              </a:defRPr>
            </a:lvl1pPr>
          </a:lstStyle>
          <a:p>
            <a:r>
              <a:rPr lang="ko-KR" altLang="en-US" sz="1400" dirty="0"/>
              <a:t> 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55B3EEF-F2B4-4144-B5A1-4C5B2F3FF817}"/>
              </a:ext>
            </a:extLst>
          </p:cNvPr>
          <p:cNvSpPr/>
          <p:nvPr/>
        </p:nvSpPr>
        <p:spPr>
          <a:xfrm>
            <a:off x="372627" y="75503"/>
            <a:ext cx="8717347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spc="-150" dirty="0">
                <a:ln>
                  <a:solidFill>
                    <a:prstClr val="ltGray">
                      <a:alpha val="0"/>
                    </a:prst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JBold" pitchFamily="18" charset="-127"/>
              </a:rPr>
              <a:t>올리브영 상품</a:t>
            </a:r>
            <a:r>
              <a:rPr lang="en-US" altLang="ko-KR" sz="1400" spc="-150" dirty="0">
                <a:ln>
                  <a:solidFill>
                    <a:prstClr val="ltGray">
                      <a:alpha val="0"/>
                    </a:prst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JBold" pitchFamily="18" charset="-127"/>
              </a:rPr>
              <a:t>·</a:t>
            </a:r>
            <a:r>
              <a:rPr lang="ko-KR" altLang="en-US" sz="1400" spc="-150" dirty="0">
                <a:ln>
                  <a:solidFill>
                    <a:prstClr val="ltGray">
                      <a:alpha val="0"/>
                    </a:prst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JBold" pitchFamily="18" charset="-127"/>
              </a:rPr>
              <a:t>브랜드 입점 제안 </a:t>
            </a:r>
            <a:r>
              <a:rPr lang="en-US" altLang="ko-KR" sz="1400" spc="-150" dirty="0">
                <a:ln>
                  <a:solidFill>
                    <a:prstClr val="ltGray">
                      <a:alpha val="0"/>
                    </a:prst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JBold" pitchFamily="18" charset="-127"/>
              </a:rPr>
              <a:t>: </a:t>
            </a:r>
            <a:r>
              <a:rPr lang="ko-KR" altLang="en-US" sz="1400" b="1" spc="-150" dirty="0">
                <a:ln>
                  <a:solidFill>
                    <a:prstClr val="ltGray">
                      <a:alpha val="0"/>
                    </a:prst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JBold" pitchFamily="18" charset="-127"/>
              </a:rPr>
              <a:t>기본 정보</a:t>
            </a:r>
          </a:p>
        </p:txBody>
      </p:sp>
    </p:spTree>
    <p:extLst>
      <p:ext uri="{BB962C8B-B14F-4D97-AF65-F5344CB8AC3E}">
        <p14:creationId xmlns:p14="http://schemas.microsoft.com/office/powerpoint/2010/main" val="42417059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12ECD343-BE8D-4C99-B896-1C64A19F518D}"/>
              </a:ext>
            </a:extLst>
          </p:cNvPr>
          <p:cNvSpPr/>
          <p:nvPr/>
        </p:nvSpPr>
        <p:spPr bwMode="auto">
          <a:xfrm>
            <a:off x="316150" y="555473"/>
            <a:ext cx="8723069" cy="4525223"/>
          </a:xfrm>
          <a:prstGeom prst="rect">
            <a:avLst/>
          </a:prstGeom>
          <a:pattFill prst="pct20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 w="6350">
            <a:solidFill>
              <a:srgbClr val="66B826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J ONLYONE NEW 본문 Regular" panose="00000500000000000000" pitchFamily="2" charset="-127"/>
              <a:ea typeface="CJ ONLYONE NEW 본문 Regular" panose="00000500000000000000" pitchFamily="2" charset="-127"/>
              <a:cs typeface="+mn-cs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C6233E6D-B7A2-4C9B-9D36-920306F1EF69}"/>
              </a:ext>
            </a:extLst>
          </p:cNvPr>
          <p:cNvCxnSpPr>
            <a:cxnSpLocks/>
          </p:cNvCxnSpPr>
          <p:nvPr/>
        </p:nvCxnSpPr>
        <p:spPr bwMode="auto">
          <a:xfrm>
            <a:off x="331030" y="404970"/>
            <a:ext cx="8417550" cy="0"/>
          </a:xfrm>
          <a:prstGeom prst="line">
            <a:avLst/>
          </a:prstGeom>
          <a:solidFill>
            <a:schemeClr val="accent1"/>
          </a:solidFill>
          <a:ln w="6350" cap="flat" cmpd="sng" algn="ctr">
            <a:solidFill>
              <a:schemeClr val="bg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02BB2500-F4AF-4E0E-9798-A8ACCAAD7A79}"/>
              </a:ext>
            </a:extLst>
          </p:cNvPr>
          <p:cNvSpPr txBox="1"/>
          <p:nvPr/>
        </p:nvSpPr>
        <p:spPr>
          <a:xfrm>
            <a:off x="331030" y="62798"/>
            <a:ext cx="64390" cy="307777"/>
          </a:xfrm>
          <a:prstGeom prst="rect">
            <a:avLst/>
          </a:prstGeom>
          <a:solidFill>
            <a:srgbClr val="66B826"/>
          </a:solidFill>
          <a:ln>
            <a:noFill/>
          </a:ln>
        </p:spPr>
        <p:txBody>
          <a:bodyPr wrap="square" rtlCol="0" anchor="ctr">
            <a:spAutoFit/>
          </a:bodyPr>
          <a:lstStyle>
            <a:defPPr>
              <a:defRPr lang="ko-KR"/>
            </a:defPPr>
            <a:lvl1pPr algn="ctr">
              <a:defRPr sz="1200" b="1" spc="-80">
                <a:ln>
                  <a:solidFill>
                    <a:srgbClr val="BBE0E3">
                      <a:alpha val="0"/>
                    </a:srgbClr>
                  </a:solidFill>
                </a:ln>
                <a:solidFill>
                  <a:schemeClr val="bg1"/>
                </a:solidFill>
                <a:latin typeface="CJ ONLYONE NEW 본문 Regular" panose="00000500000000000000" pitchFamily="2" charset="-127"/>
                <a:ea typeface="CJ ONLYONE NEW 본문 Regular" panose="00000500000000000000" pitchFamily="2" charset="-127"/>
              </a:defRPr>
            </a:lvl1pPr>
          </a:lstStyle>
          <a:p>
            <a:r>
              <a:rPr lang="ko-KR" altLang="en-US" sz="1400" dirty="0"/>
              <a:t> 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55B3EEF-F2B4-4144-B5A1-4C5B2F3FF817}"/>
              </a:ext>
            </a:extLst>
          </p:cNvPr>
          <p:cNvSpPr/>
          <p:nvPr/>
        </p:nvSpPr>
        <p:spPr>
          <a:xfrm>
            <a:off x="372627" y="75503"/>
            <a:ext cx="8717347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spc="-150" dirty="0">
                <a:ln>
                  <a:solidFill>
                    <a:prstClr val="ltGray">
                      <a:alpha val="0"/>
                    </a:prst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JBold" pitchFamily="18" charset="-127"/>
              </a:rPr>
              <a:t>올리브영 상품</a:t>
            </a:r>
            <a:r>
              <a:rPr lang="en-US" altLang="ko-KR" sz="1400" spc="-150" dirty="0">
                <a:ln>
                  <a:solidFill>
                    <a:prstClr val="ltGray">
                      <a:alpha val="0"/>
                    </a:prst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JBold" pitchFamily="18" charset="-127"/>
              </a:rPr>
              <a:t>·</a:t>
            </a:r>
            <a:r>
              <a:rPr lang="ko-KR" altLang="en-US" sz="1400" spc="-150" dirty="0">
                <a:ln>
                  <a:solidFill>
                    <a:prstClr val="ltGray">
                      <a:alpha val="0"/>
                    </a:prst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JBold" pitchFamily="18" charset="-127"/>
              </a:rPr>
              <a:t>브랜드 입점 제안 </a:t>
            </a:r>
            <a:r>
              <a:rPr lang="en-US" altLang="ko-KR" sz="1400" spc="-150" dirty="0">
                <a:ln>
                  <a:solidFill>
                    <a:prstClr val="ltGray">
                      <a:alpha val="0"/>
                    </a:prst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JBold" pitchFamily="18" charset="-127"/>
              </a:rPr>
              <a:t>: </a:t>
            </a:r>
            <a:r>
              <a:rPr lang="ko-KR" altLang="en-US" sz="1400" b="1" spc="-150" dirty="0">
                <a:ln>
                  <a:solidFill>
                    <a:prstClr val="ltGray">
                      <a:alpha val="0"/>
                    </a:prst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JBold" pitchFamily="18" charset="-127"/>
              </a:rPr>
              <a:t>상품 </a:t>
            </a:r>
            <a:r>
              <a:rPr lang="en-US" altLang="ko-KR" sz="1400" b="1" spc="-150" dirty="0">
                <a:ln>
                  <a:solidFill>
                    <a:prstClr val="ltGray">
                      <a:alpha val="0"/>
                    </a:prst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JBold" pitchFamily="18" charset="-127"/>
              </a:rPr>
              <a:t>/ </a:t>
            </a:r>
            <a:r>
              <a:rPr lang="ko-KR" altLang="en-US" sz="1400" b="1" spc="-150" dirty="0">
                <a:ln>
                  <a:solidFill>
                    <a:prstClr val="ltGray">
                      <a:alpha val="0"/>
                    </a:prst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JBold" pitchFamily="18" charset="-127"/>
              </a:rPr>
              <a:t>브랜드 </a:t>
            </a:r>
            <a:endParaRPr lang="ko-KR" altLang="en-US" sz="1300" b="1" spc="-150" dirty="0">
              <a:ln>
                <a:solidFill>
                  <a:prstClr val="ltGray">
                    <a:alpha val="0"/>
                  </a:prst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  <a:cs typeface="JBold" pitchFamily="18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A919607-8162-4A9F-9135-0DBF052DECD1}"/>
              </a:ext>
            </a:extLst>
          </p:cNvPr>
          <p:cNvSpPr txBox="1"/>
          <p:nvPr/>
        </p:nvSpPr>
        <p:spPr>
          <a:xfrm>
            <a:off x="316150" y="555473"/>
            <a:ext cx="2843760" cy="292388"/>
          </a:xfrm>
          <a:prstGeom prst="rect">
            <a:avLst/>
          </a:prstGeom>
          <a:solidFill>
            <a:srgbClr val="66B826"/>
          </a:solidFill>
          <a:ln>
            <a:noFill/>
          </a:ln>
        </p:spPr>
        <p:txBody>
          <a:bodyPr wrap="square" rtlCol="0" anchor="ctr">
            <a:spAutoFit/>
          </a:bodyPr>
          <a:lstStyle>
            <a:defPPr>
              <a:defRPr lang="ko-KR"/>
            </a:defPPr>
            <a:lvl1pPr algn="ctr">
              <a:defRPr sz="1200" b="1" spc="-80">
                <a:ln>
                  <a:solidFill>
                    <a:srgbClr val="BBE0E3">
                      <a:alpha val="0"/>
                    </a:srgbClr>
                  </a:solidFill>
                </a:ln>
                <a:solidFill>
                  <a:schemeClr val="bg1"/>
                </a:solidFill>
                <a:latin typeface="CJ ONLYONE NEW 본문 Regular" panose="00000500000000000000" pitchFamily="2" charset="-127"/>
                <a:ea typeface="CJ ONLYONE NEW 본문 Regular" panose="00000500000000000000" pitchFamily="2" charset="-127"/>
              </a:defRPr>
            </a:lvl1pPr>
          </a:lstStyle>
          <a:p>
            <a:r>
              <a:rPr lang="ko-KR" altLang="en-US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제안 상품</a:t>
            </a:r>
            <a:r>
              <a:rPr lang="en-US" altLang="ko-KR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및 브랜드 소개</a:t>
            </a: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AC07595D-11AF-4352-9E8C-9795564339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2907813"/>
              </p:ext>
            </p:extLst>
          </p:nvPr>
        </p:nvGraphicFramePr>
        <p:xfrm>
          <a:off x="387939" y="1097715"/>
          <a:ext cx="8143001" cy="3852000"/>
        </p:xfrm>
        <a:graphic>
          <a:graphicData uri="http://schemas.openxmlformats.org/drawingml/2006/table">
            <a:tbl>
              <a:tblPr/>
              <a:tblGrid>
                <a:gridCol w="20830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599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921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구분</a:t>
                      </a:r>
                    </a:p>
                  </a:txBody>
                  <a:tcPr marL="479" marR="479" marT="479" marB="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4823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내용</a:t>
                      </a:r>
                    </a:p>
                  </a:txBody>
                  <a:tcPr marL="479" marR="479" marT="479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482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53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브랜드 소개</a:t>
                      </a:r>
                    </a:p>
                  </a:txBody>
                  <a:tcPr marL="479" marR="479" marT="479" marB="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 lIns="38100" rIns="38100" tIns="38100" bIns="38100" wrap="square"/>
                    <a:lstStyle/>
                    <a:p>
                      <a:pPr algn="l" fontAlgn="ctr"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sz="750" b="1">
                          <a:solidFill>
                            <a:srgbClr val="1F3864"/>
                          </a:solidFill>
                          <a:latin typeface="맑은 고딕"/>
                        </a:rPr>
                        <a:t>[한 줄 정의]</a:t>
                      </a: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sz="750">
                          <a:solidFill>
                            <a:srgbClr val="212121"/>
                          </a:solidFill>
                          <a:latin typeface="맑은 고딕"/>
                        </a:rPr>
                        <a:t>· "스킨케어 단계로부터의 자유" — SLOBODA(슬라브어 '자유')의 이름처럼, 크림 하나로 끝내는 미니멀 데일리 장벽 케어 더마 브랜드</a:t>
                      </a: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sz="750">
                          <a:solidFill>
                            <a:srgbClr val="212121"/>
                          </a:solidFill>
                          <a:latin typeface="맑은 고딕"/>
                        </a:rPr>
                        <a:t/>
                      </a: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sz="750" b="1">
                          <a:solidFill>
                            <a:srgbClr val="1F3864"/>
                          </a:solidFill>
                          <a:latin typeface="맑은 고딕"/>
                        </a:rPr>
                        <a:t>[핵심 자산 2가지 — 심의 안전형으로 재정의]</a:t>
                      </a: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sz="750">
                          <a:solidFill>
                            <a:srgbClr val="212121"/>
                          </a:solidFill>
                          <a:latin typeface="맑은 고딕"/>
                        </a:rPr>
                        <a:t>· ① 안전성을 '숫자'로 증명: [○○기관] 일반+민감성 이중 인체적용시험, 두 시험 모두 비자극(자극지수 0.00) 판정 (기관·번호·피험자수 각주 필수). 남들의 '저자극 테스트 완료' 정성 표기와 달리 정량 임상</a:t>
                      </a: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sz="750">
                          <a:solidFill>
                            <a:srgbClr val="212121"/>
                          </a:solidFill>
                          <a:latin typeface="맑은 고딕"/>
                        </a:rPr>
                        <a:t>· ② 병풀잎수 베이스 처방: 정제수 대신 병풀잎수를 베이스로 사용(전성분표·배합의도서 원문 제출). 카피는 '유효성분 50% 효능'이 아닌 '함량·처방 사실'로만 표기 — 표시광고 심의 준수</a:t>
                      </a: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sz="750">
                          <a:solidFill>
                            <a:srgbClr val="212121"/>
                          </a:solidFill>
                          <a:latin typeface="맑은 고딕"/>
                        </a:rPr>
                        <a:t/>
                      </a: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sz="750" b="1">
                          <a:solidFill>
                            <a:srgbClr val="1F3864"/>
                          </a:solidFill>
                          <a:latin typeface="맑은 고딕"/>
                        </a:rPr>
                        <a:t>[히스토리·신뢰 구조]</a:t>
                      </a: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sz="750">
                          <a:solidFill>
                            <a:srgbClr val="212121"/>
                          </a:solidFill>
                          <a:latin typeface="맑은 고딕"/>
                        </a:rPr>
                        <a:t>· 광고로 신뢰를 '사는' 순서의 역방향 — '시술 후 홈케어용'으로 병원 채널에 먼저 공급된 뒤 D2C로 대중화 (납품처 거래명세로 물증화 [기입], 못 대면 이 스토리 삭제)</a:t>
                      </a: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sz="750">
                          <a:solidFill>
                            <a:srgbClr val="212121"/>
                          </a:solidFill>
                          <a:latin typeface="맑은 고딕"/>
                        </a:rPr>
                        <a:t>· 창업 계기·origin 3~4문장 [기입] — MD는 '왜 이 사람이 이걸 만들었나'에 반응</a:t>
                      </a: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sz="750">
                          <a:solidFill>
                            <a:srgbClr val="212121"/>
                          </a:solidFill>
                          <a:latin typeface="맑은 고딕"/>
                        </a:rPr>
                        <a:t/>
                      </a: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sz="750" b="1">
                          <a:solidFill>
                            <a:srgbClr val="1F3864"/>
                          </a:solidFill>
                          <a:latin typeface="맑은 고딕"/>
                        </a:rPr>
                        <a:t>[경쟁 대비 차별점 — 좁혀서 증명]</a:t>
                      </a: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sz="750">
                          <a:solidFill>
                            <a:srgbClr val="212121"/>
                          </a:solidFill>
                          <a:latin typeface="맑은 고딕"/>
                        </a:rPr>
                        <a:t>· 소구축 이동: 모두가 하는 '성분 % 경쟁'(레드오션)에서 벗어나 '자극 수치를 전면에 건 국산 시카 크림'(상대적 블루오션)으로</a:t>
                      </a: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sz="750">
                          <a:solidFill>
                            <a:srgbClr val="212121"/>
                          </a:solidFill>
                          <a:latin typeface="맑은 고딕"/>
                        </a:rPr>
                        <a:t>· '공백'이 아니라 '이 조합은 없음': 4만원대 국산 시카 크림은 이미 존재하나(닥터지·아누아·토리든 등), [병풀잎수 베이스 처방 + 일반·민감성 이중 임상 + 시술후 리커버리 소구]의 교집합은 부재 → 경쟁 SKU 비교표로 증명(product_lineup 참조)</a:t>
                      </a: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sz="750">
                          <a:solidFill>
                            <a:srgbClr val="212121"/>
                          </a:solidFill>
                          <a:latin typeface="맑은 고딕"/>
                        </a:rPr>
                        <a:t>· 단일 히어로 SKU 서사에 집중 (라인 확장은 실적 달성 후 논의)</a:t>
                      </a:r>
                    </a:p>
                  </a:txBody>
                  <a:tcPr marL="479" marR="479" marT="479" marB="0" anchor="t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7243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브랜드 목표 및 전략 방향</a:t>
                      </a:r>
                    </a:p>
                  </a:txBody>
                  <a:tcPr marL="479" marR="479" marT="479" marB="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 lIns="38100" rIns="38100" tIns="38100" bIns="38100" wrap="square"/>
                    <a:lstStyle/>
                    <a:p>
                      <a:pPr algn="l" fontAlgn="ctr"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sz="750" b="1">
                          <a:solidFill>
                            <a:srgbClr val="1F3864"/>
                          </a:solidFill>
                          <a:latin typeface="맑은 고딕"/>
                        </a:rPr>
                        <a:t>[제안 범위 하향 = 채택확률↑]</a:t>
                      </a: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sz="750">
                          <a:solidFill>
                            <a:srgbClr val="212121"/>
                          </a:solidFill>
                          <a:latin typeface="맑은 고딕"/>
                        </a:rPr>
                        <a:t>· 1차 목표를 '오프라인 전점'이 아닌 '온라인몰 단독 입점'으로 설정 — 데이터가 얇은 초기 브랜드가 MD 리스크를 낮춰 진입. 리스크 규정은 MD 몫임을 인정하고, 판단 가능한 최소 단위로 제안</a:t>
                      </a: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sz="750">
                          <a:solidFill>
                            <a:srgbClr val="212121"/>
                          </a:solidFill>
                          <a:latin typeface="맑은 고딕"/>
                        </a:rPr>
                        <a:t/>
                      </a: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sz="750" b="1">
                          <a:solidFill>
                            <a:srgbClr val="1F3864"/>
                          </a:solidFill>
                          <a:latin typeface="맑은 고딕"/>
                        </a:rPr>
                        <a:t>[단기 0~3개월 — 회전율 증명]</a:t>
                      </a: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sz="750">
                          <a:solidFill>
                            <a:srgbClr val="212121"/>
                          </a:solidFill>
                          <a:latin typeface="맑은 고딕"/>
                        </a:rPr>
                        <a:t>· 히어로 단일 SKU(No.7 리커버리 크림)로 '임상 비자극 병풀 크림' 인지 각인</a:t>
                      </a: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sz="750">
                          <a:solidFill>
                            <a:srgbClr val="212121"/>
                          </a:solidFill>
                          <a:latin typeface="맑은 고딕"/>
                        </a:rPr>
                        <a:t>· 온라인몰 초도 리뷰 [목표 100건]을 브랜드 비용으로 확보 → 데이터 리스크를 브랜드가 짐</a:t>
                      </a: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sz="750">
                          <a:solidFill>
                            <a:srgbClr val="212121"/>
                          </a:solidFill>
                          <a:latin typeface="맑은 고딕"/>
                        </a:rPr>
                        <a:t>· 재구매율·평점 실데이터로 회전율 선증명 (현재 [기입]% → 목표 [기입]%)</a:t>
                      </a: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sz="750">
                          <a:solidFill>
                            <a:srgbClr val="212121"/>
                          </a:solidFill>
                          <a:latin typeface="맑은 고딕"/>
                        </a:rPr>
                        <a:t/>
                      </a: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sz="750" b="1">
                          <a:solidFill>
                            <a:srgbClr val="1F3864"/>
                          </a:solidFill>
                          <a:latin typeface="맑은 고딕"/>
                        </a:rPr>
                        <a:t>[중기 3~6개월 — 오프라인 테스트]</a:t>
                      </a: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sz="750">
                          <a:solidFill>
                            <a:srgbClr val="212121"/>
                          </a:solidFill>
                          <a:latin typeface="맑은 고딕"/>
                        </a:rPr>
                        <a:t>· 온라인 지표 달성 시 오프라인 소수 매장(더마·진정존) 테스트</a:t>
                      </a: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sz="750">
                          <a:solidFill>
                            <a:srgbClr val="212121"/>
                          </a:solidFill>
                          <a:latin typeface="맑은 고딕"/>
                        </a:rPr>
                        <a:t>· 초도 2~3 SKU로 브랜드존 구성 = 히어로의 '용량 변주'(본품 50ml + 미니/트래블 + 리필) — 컨셉 훼손 없이 매대 슬롯·객단가 방어</a:t>
                      </a: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sz="750">
                          <a:solidFill>
                            <a:srgbClr val="212121"/>
                          </a:solidFill>
                          <a:latin typeface="맑은 고딕"/>
                        </a:rPr>
                        <a:t/>
                      </a: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sz="750" b="1">
                          <a:solidFill>
                            <a:srgbClr val="1F3864"/>
                          </a:solidFill>
                          <a:latin typeface="맑은 고딕"/>
                        </a:rPr>
                        <a:t>[장기 6개월~ — 확대·글로벌]</a:t>
                      </a: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sz="750">
                          <a:solidFill>
                            <a:srgbClr val="212121"/>
                          </a:solidFill>
                          <a:latin typeface="맑은 고딕"/>
                        </a:rPr>
                        <a:t>· 실적 근거로 전점 확대 + 글로벌몰 역직구 기획전</a:t>
                      </a: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sz="750">
                          <a:solidFill>
                            <a:srgbClr val="212121"/>
                          </a:solidFill>
                          <a:latin typeface="맑은 고딕"/>
                        </a:rPr>
                        <a:t>· 신규 카테고리 라인 확장(리커버리 앰플·저자극 클렌저)은 '실적 달성 후 논의' 한 줄로만 — '크림 하나' 히어로 서사 유지</a:t>
                      </a:r>
                    </a:p>
                  </a:txBody>
                  <a:tcPr marL="479" marR="479" marT="479" marB="0" anchor="t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730544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92693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12ECD343-BE8D-4C99-B896-1C64A19F518D}"/>
              </a:ext>
            </a:extLst>
          </p:cNvPr>
          <p:cNvSpPr/>
          <p:nvPr/>
        </p:nvSpPr>
        <p:spPr bwMode="auto">
          <a:xfrm>
            <a:off x="316150" y="555473"/>
            <a:ext cx="8723069" cy="4525223"/>
          </a:xfrm>
          <a:prstGeom prst="rect">
            <a:avLst/>
          </a:prstGeom>
          <a:pattFill prst="pct20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 w="6350">
            <a:solidFill>
              <a:srgbClr val="66B826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J ONLYONE NEW 본문 Regular" panose="00000500000000000000" pitchFamily="2" charset="-127"/>
              <a:ea typeface="CJ ONLYONE NEW 본문 Regular" panose="00000500000000000000" pitchFamily="2" charset="-127"/>
              <a:cs typeface="+mn-cs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C6233E6D-B7A2-4C9B-9D36-920306F1EF69}"/>
              </a:ext>
            </a:extLst>
          </p:cNvPr>
          <p:cNvCxnSpPr>
            <a:cxnSpLocks/>
          </p:cNvCxnSpPr>
          <p:nvPr/>
        </p:nvCxnSpPr>
        <p:spPr bwMode="auto">
          <a:xfrm>
            <a:off x="331030" y="404970"/>
            <a:ext cx="8417550" cy="0"/>
          </a:xfrm>
          <a:prstGeom prst="line">
            <a:avLst/>
          </a:prstGeom>
          <a:solidFill>
            <a:schemeClr val="accent1"/>
          </a:solidFill>
          <a:ln w="6350" cap="flat" cmpd="sng" algn="ctr">
            <a:solidFill>
              <a:schemeClr val="bg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02BB2500-F4AF-4E0E-9798-A8ACCAAD7A79}"/>
              </a:ext>
            </a:extLst>
          </p:cNvPr>
          <p:cNvSpPr txBox="1"/>
          <p:nvPr/>
        </p:nvSpPr>
        <p:spPr>
          <a:xfrm>
            <a:off x="331030" y="62798"/>
            <a:ext cx="64390" cy="307777"/>
          </a:xfrm>
          <a:prstGeom prst="rect">
            <a:avLst/>
          </a:prstGeom>
          <a:solidFill>
            <a:srgbClr val="66B826"/>
          </a:solidFill>
          <a:ln>
            <a:noFill/>
          </a:ln>
        </p:spPr>
        <p:txBody>
          <a:bodyPr wrap="square" rtlCol="0" anchor="ctr">
            <a:spAutoFit/>
          </a:bodyPr>
          <a:lstStyle>
            <a:defPPr>
              <a:defRPr lang="ko-KR"/>
            </a:defPPr>
            <a:lvl1pPr algn="ctr">
              <a:defRPr sz="1200" b="1" spc="-80">
                <a:ln>
                  <a:solidFill>
                    <a:srgbClr val="BBE0E3">
                      <a:alpha val="0"/>
                    </a:srgbClr>
                  </a:solidFill>
                </a:ln>
                <a:solidFill>
                  <a:schemeClr val="bg1"/>
                </a:solidFill>
                <a:latin typeface="CJ ONLYONE NEW 본문 Regular" panose="00000500000000000000" pitchFamily="2" charset="-127"/>
                <a:ea typeface="CJ ONLYONE NEW 본문 Regular" panose="00000500000000000000" pitchFamily="2" charset="-127"/>
              </a:defRPr>
            </a:lvl1pPr>
          </a:lstStyle>
          <a:p>
            <a:r>
              <a:rPr lang="ko-KR" altLang="en-US" sz="1400" dirty="0"/>
              <a:t> 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55B3EEF-F2B4-4144-B5A1-4C5B2F3FF817}"/>
              </a:ext>
            </a:extLst>
          </p:cNvPr>
          <p:cNvSpPr/>
          <p:nvPr/>
        </p:nvSpPr>
        <p:spPr>
          <a:xfrm>
            <a:off x="372627" y="75503"/>
            <a:ext cx="8717347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spc="-150" dirty="0">
                <a:ln>
                  <a:solidFill>
                    <a:prstClr val="ltGray">
                      <a:alpha val="0"/>
                    </a:prst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JBold" pitchFamily="18" charset="-127"/>
              </a:rPr>
              <a:t>올리브영 상품</a:t>
            </a:r>
            <a:r>
              <a:rPr lang="en-US" altLang="ko-KR" sz="1400" spc="-150" dirty="0">
                <a:ln>
                  <a:solidFill>
                    <a:prstClr val="ltGray">
                      <a:alpha val="0"/>
                    </a:prst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JBold" pitchFamily="18" charset="-127"/>
              </a:rPr>
              <a:t>·</a:t>
            </a:r>
            <a:r>
              <a:rPr lang="ko-KR" altLang="en-US" sz="1400" spc="-150" dirty="0">
                <a:ln>
                  <a:solidFill>
                    <a:prstClr val="ltGray">
                      <a:alpha val="0"/>
                    </a:prst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JBold" pitchFamily="18" charset="-127"/>
              </a:rPr>
              <a:t>브랜드 입점 제안 </a:t>
            </a:r>
            <a:r>
              <a:rPr lang="en-US" altLang="ko-KR" sz="1400" spc="-150" dirty="0">
                <a:ln>
                  <a:solidFill>
                    <a:prstClr val="ltGray">
                      <a:alpha val="0"/>
                    </a:prst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JBold" pitchFamily="18" charset="-127"/>
              </a:rPr>
              <a:t>: </a:t>
            </a:r>
            <a:r>
              <a:rPr lang="ko-KR" altLang="en-US" sz="1400" b="1" spc="-150" dirty="0">
                <a:ln>
                  <a:solidFill>
                    <a:prstClr val="ltGray">
                      <a:alpha val="0"/>
                    </a:prst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JBold" pitchFamily="18" charset="-127"/>
              </a:rPr>
              <a:t>성과 및 마케팅 등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A919607-8162-4A9F-9135-0DBF052DECD1}"/>
              </a:ext>
            </a:extLst>
          </p:cNvPr>
          <p:cNvSpPr txBox="1"/>
          <p:nvPr/>
        </p:nvSpPr>
        <p:spPr>
          <a:xfrm>
            <a:off x="316150" y="548718"/>
            <a:ext cx="2843760" cy="292388"/>
          </a:xfrm>
          <a:prstGeom prst="rect">
            <a:avLst/>
          </a:prstGeom>
          <a:solidFill>
            <a:srgbClr val="66B826"/>
          </a:solidFill>
          <a:ln>
            <a:noFill/>
          </a:ln>
        </p:spPr>
        <p:txBody>
          <a:bodyPr wrap="square" rtlCol="0" anchor="ctr">
            <a:spAutoFit/>
          </a:bodyPr>
          <a:lstStyle>
            <a:defPPr>
              <a:defRPr lang="ko-KR"/>
            </a:defPPr>
            <a:lvl1pPr algn="ctr">
              <a:defRPr sz="1200" b="1" spc="-80">
                <a:ln>
                  <a:solidFill>
                    <a:srgbClr val="BBE0E3">
                      <a:alpha val="0"/>
                    </a:srgbClr>
                  </a:solidFill>
                </a:ln>
                <a:solidFill>
                  <a:schemeClr val="bg1"/>
                </a:solidFill>
                <a:latin typeface="CJ ONLYONE NEW 본문 Regular" panose="00000500000000000000" pitchFamily="2" charset="-127"/>
                <a:ea typeface="CJ ONLYONE NEW 본문 Regular" panose="00000500000000000000" pitchFamily="2" charset="-127"/>
              </a:defRPr>
            </a:lvl1pPr>
          </a:lstStyle>
          <a:p>
            <a:r>
              <a:rPr lang="ko-KR" altLang="en-US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성과 및 마케팅 등</a:t>
            </a: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AC07595D-11AF-4352-9E8C-9795564339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5988851"/>
              </p:ext>
            </p:extLst>
          </p:nvPr>
        </p:nvGraphicFramePr>
        <p:xfrm>
          <a:off x="387939" y="1097715"/>
          <a:ext cx="8143001" cy="3707999"/>
        </p:xfrm>
        <a:graphic>
          <a:graphicData uri="http://schemas.openxmlformats.org/drawingml/2006/table">
            <a:tbl>
              <a:tblPr/>
              <a:tblGrid>
                <a:gridCol w="20830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599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0829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구분</a:t>
                      </a:r>
                    </a:p>
                  </a:txBody>
                  <a:tcPr marL="479" marR="479" marT="479" marB="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4823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내용</a:t>
                      </a:r>
                    </a:p>
                  </a:txBody>
                  <a:tcPr marL="479" marR="479" marT="479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482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8388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브랜드 및 상품 주요 성과</a:t>
                      </a:r>
                    </a:p>
                  </a:txBody>
                  <a:tcPr marL="479" marR="479" marT="479" marB="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 lIns="38100" rIns="38100" tIns="38100" bIns="38100" wrap="square"/>
                    <a:lstStyle/>
                    <a:p>
                      <a:pPr algn="l" fontAlgn="ctr"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sz="750" b="1">
                          <a:solidFill>
                            <a:srgbClr val="1F3864"/>
                          </a:solidFill>
                          <a:latin typeface="맑은 고딕"/>
                        </a:rPr>
                        <a:t>[MD가 협상에서 쓸 실수치 — 우선순위대로 채움, 못 채우면 삭제]</a:t>
                      </a: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sz="750">
                          <a:solidFill>
                            <a:srgbClr val="212121"/>
                          </a:solidFill>
                          <a:latin typeface="맑은 고딕"/>
                        </a:rPr>
                        <a:t>· ① 재구매율 [기입]% — 더마 크림의 생명 지표. 20~30%+면 최강 무기 (최우선 확보)</a:t>
                      </a: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sz="750">
                          <a:solidFill>
                            <a:srgbClr val="212121"/>
                          </a:solidFill>
                          <a:latin typeface="맑은 고딕"/>
                        </a:rPr>
                        <a:t>· ② 네이버 리뷰 수·평균 평점 [기입] (예: 'OOO건·4.O점' 캡처 첨부) — [기입]보다 100배 강함</a:t>
                      </a: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sz="750">
                          <a:solidFill>
                            <a:srgbClr val="212121"/>
                          </a:solidFill>
                          <a:latin typeface="맑은 고딕"/>
                        </a:rPr>
                        <a:t>· ③ 쿠팡 누적 판매·리뷰 [기입]</a:t>
                      </a: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sz="750">
                          <a:solidFill>
                            <a:srgbClr val="212121"/>
                          </a:solidFill>
                          <a:latin typeface="맑은 고딕"/>
                        </a:rPr>
                        <a:t>· ④ 와디즈 #408720 달성률·후원자 수 [기입] — 강하면 히어로로, 약하거나 없으면 삭제</a:t>
                      </a: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sz="750">
                          <a:solidFill>
                            <a:srgbClr val="212121"/>
                          </a:solidFill>
                          <a:latin typeface="맑은 고딕"/>
                        </a:rPr>
                        <a:t>· ⑤ 병원 납품처 수·재주문 실적 [기입] — 역방향 신뢰의 유일한 물증. 못 채우면 병원 스토리 전체 삭제</a:t>
                      </a: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sz="750">
                          <a:solidFill>
                            <a:srgbClr val="212121"/>
                          </a:solidFill>
                          <a:latin typeface="맑은 고딕"/>
                        </a:rPr>
                        <a:t/>
                      </a: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sz="750" b="1">
                          <a:solidFill>
                            <a:srgbClr val="1F3864"/>
                          </a:solidFill>
                          <a:latin typeface="맑은 고딕"/>
                        </a:rPr>
                        <a:t>[정직 프레이밍(데이터가 얇을 때)]</a:t>
                      </a: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sz="750">
                          <a:solidFill>
                            <a:srgbClr val="212121"/>
                          </a:solidFill>
                          <a:latin typeface="맑은 고딕"/>
                        </a:rPr>
                        <a:t>· "론칭 [O]개월 차 초기 브랜드로 절대 판매량은 작으나, 재구매율 [O]%·평점 [O.O]로 반복구매 신호 확인 — 인지도가 아닌 '전환 잠재력'으로 평가 요청"</a:t>
                      </a: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sz="750">
                          <a:solidFill>
                            <a:srgbClr val="212121"/>
                          </a:solidFill>
                          <a:latin typeface="맑은 고딕"/>
                        </a:rPr>
                        <a:t/>
                      </a: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sz="750" b="1">
                          <a:solidFill>
                            <a:srgbClr val="1F3864"/>
                          </a:solidFill>
                          <a:latin typeface="맑은 고딕"/>
                        </a:rPr>
                        <a:t>[품질·신뢰 크리덴셜 — 사실 확정 필요]</a:t>
                      </a: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sz="750">
                          <a:solidFill>
                            <a:srgbClr val="212121"/>
                          </a:solidFill>
                          <a:latin typeface="맑은 고딕"/>
                        </a:rPr>
                        <a:t>· 제조 허니스트 CGMP·ISO22716 [확인·명기] / 책임판매업 등록·생산물배상책임(PL)보험 가입 [기입] / 로트별 CoA·안정성(경시변화)·미생물 성적 상시 제출</a:t>
                      </a: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sz="750">
                          <a:solidFill>
                            <a:srgbClr val="212121"/>
                          </a:solidFill>
                          <a:latin typeface="맑은 고딕"/>
                        </a:rPr>
                        <a:t>· 검증 사실: 일반+민감성 이중 인체적용시험 비자극 판정(기관/번호/피험자수 [기입])</a:t>
                      </a: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sz="650">
                          <a:solidFill>
                            <a:srgbClr val="777777"/>
                          </a:solidFill>
                          <a:latin typeface="맑은 고딕"/>
                        </a:rPr>
                        <a:t>※ 원칙: 못 채우는 [기입]은 삭제해 밀도를 낮춘다 — 빈칸 15개보다 채워진 8개가 통과한다.</a:t>
                      </a:r>
                    </a:p>
                  </a:txBody>
                  <a:tcPr marL="479" marR="479" marT="479" marB="0" anchor="t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734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마케팅 현황</a:t>
                      </a:r>
                    </a:p>
                  </a:txBody>
                  <a:tcPr marL="479" marR="479" marT="479" marB="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 lIns="38100" rIns="38100" tIns="38100" bIns="38100" wrap="square"/>
                    <a:lstStyle/>
                    <a:p>
                      <a:pPr algn="l" fontAlgn="ctr"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sz="750" b="1">
                          <a:solidFill>
                            <a:srgbClr val="1F3864"/>
                          </a:solidFill>
                          <a:latin typeface="맑은 고딕"/>
                        </a:rPr>
                        <a:t>[진행·완료 — 집행 실수치 병기]</a:t>
                      </a: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sz="750">
                          <a:solidFill>
                            <a:srgbClr val="212121"/>
                          </a:solidFill>
                          <a:latin typeface="맑은 고딕"/>
                        </a:rPr>
                        <a:t>· 네이버 블로그 체험단: 집행 [기입]건 / 유튜브 숏폼: 조회·전환 [기입]</a:t>
                      </a: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sz="750">
                          <a:solidFill>
                            <a:srgbClr val="212121"/>
                          </a:solidFill>
                          <a:latin typeface="맑은 고딕"/>
                        </a:rPr>
                        <a:t>· 와디즈 #408720: 얼리버드·한정 리워드 + 알림받기·지지서명 사전모집 (결과 수치는 achievements 참조, 강할 때만 노출)</a:t>
                      </a: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sz="750">
                          <a:solidFill>
                            <a:srgbClr val="212121"/>
                          </a:solidFill>
                          <a:latin typeface="맑은 고딕"/>
                        </a:rPr>
                        <a:t/>
                      </a: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sz="750" b="1">
                          <a:solidFill>
                            <a:srgbClr val="1F3864"/>
                          </a:solidFill>
                          <a:latin typeface="맑은 고딕"/>
                        </a:rPr>
                        <a:t>[예산·효율]</a:t>
                      </a: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sz="750">
                          <a:solidFill>
                            <a:srgbClr val="212121"/>
                          </a:solidFill>
                          <a:latin typeface="맑은 고딕"/>
                        </a:rPr>
                        <a:t>· 누적 마케팅 집행 예산 [기입] / 채널별 CPA·ROAS [기입]</a:t>
                      </a: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sz="750">
                          <a:solidFill>
                            <a:srgbClr val="212121"/>
                          </a:solidFill>
                          <a:latin typeface="맑은 고딕"/>
                        </a:rPr>
                        <a:t/>
                      </a: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sz="750" b="1">
                          <a:solidFill>
                            <a:srgbClr val="1F3864"/>
                          </a:solidFill>
                          <a:latin typeface="맑은 고딕"/>
                        </a:rPr>
                        <a:t>[메시지 통일 3축 — 심의 안전형]</a:t>
                      </a: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sz="750">
                          <a:solidFill>
                            <a:srgbClr val="212121"/>
                          </a:solidFill>
                          <a:latin typeface="맑은 고딕"/>
                        </a:rPr>
                        <a:t>· ① 임상 비자극 인증(기관 각주 세트) ② 병풀잎수 베이스 처방 ③ '단계 줄이기' 사용 전후</a:t>
                      </a: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100"/>
                        </a:spcAft>
                      </a:pPr>
                      <a:r>
                        <a:rPr sz="650">
                          <a:solidFill>
                            <a:srgbClr val="777777"/>
                          </a:solidFill>
                          <a:latin typeface="맑은 고딕"/>
                        </a:rPr>
                        <a:t>※ '재생/EGF/무자극/부작용 없음' 등 확대표현 배제 — 표시광고 가드레일 상시 적용.</a:t>
                      </a:r>
                    </a:p>
                  </a:txBody>
                  <a:tcPr marL="479" marR="479" marT="479" marB="0" anchor="t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730544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72145441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8412480" cy="274320"/>
          </a:xfrm>
          <a:prstGeom prst="rect">
            <a:avLst/>
          </a:prstGeom>
          <a:solidFill>
            <a:srgbClr val="1F3864"/>
          </a:solidFill>
          <a:ln>
            <a:solidFill>
              <a:srgbClr val="1F3864"/>
            </a:solidFill>
          </a:ln>
        </p:spPr>
        <p:txBody>
          <a:bodyPr wrap="none" lIns="76200" tIns="12700" bIns="1270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맑은 고딕"/>
              </a:rPr>
              <a:t>올리브영 상품·브랜드 입점 제안 : 상품 / 브랜드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029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12121"/>
                </a:solidFill>
                <a:latin typeface="맑은 고딕"/>
              </a:rPr>
              <a:t>주력 상품 소개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868680"/>
            <a:ext cx="8503920" cy="4114800"/>
          </a:xfrm>
          <a:prstGeom prst="rect">
            <a:avLst/>
          </a:prstGeom>
          <a:noFill/>
          <a:ln>
            <a:solidFill>
              <a:srgbClr val="BBBBBB"/>
            </a:solidFill>
          </a:ln>
        </p:spPr>
        <p:txBody>
          <a:bodyPr wrap="square" lIns="101600" tIns="63500" rIns="10160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00" b="1">
                <a:solidFill>
                  <a:srgbClr val="1F3864"/>
                </a:solidFill>
                <a:latin typeface="맑은 고딕"/>
              </a:rPr>
              <a:t>[주력 — 히어로 단일 SKU]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00">
                <a:solidFill>
                  <a:srgbClr val="212121"/>
                </a:solidFill>
                <a:latin typeface="맑은 고딕"/>
              </a:rPr>
              <a:t>· 슬로보다 No.7 리커버리 크림 / 50ml / 43,000원(정가 48,000원) / 출시일 [기입]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00">
                <a:solidFill>
                  <a:srgbClr val="212121"/>
                </a:solidFill>
                <a:latin typeface="맑은 고딕"/>
              </a:rPr>
              <a:t>· 쿠팡 등록명의 'EGF·재생' 표현 → 정식 성분명·'진정·보습·장벽 케어'로 정정 예정 (심의 리스크 제거)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00">
                <a:solidFill>
                  <a:srgbClr val="212121"/>
                </a:solidFill>
                <a:latin typeface="맑은 고딕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00" b="1">
                <a:solidFill>
                  <a:srgbClr val="1F3864"/>
                </a:solidFill>
                <a:latin typeface="맑은 고딕"/>
              </a:rPr>
              <a:t>[제형·소구 — 심의 가드레일 적용]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00">
                <a:solidFill>
                  <a:srgbClr val="212121"/>
                </a:solidFill>
                <a:latin typeface="맑은 고딕"/>
              </a:rPr>
              <a:t>· 병풀잎수 베이스 처방 + 진정·보습·피부장벽 케어 ('재생/EGF'는 소구축에서 제외, 성분표 표기 수준으로만)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00">
                <a:solidFill>
                  <a:srgbClr val="212121"/>
                </a:solidFill>
                <a:latin typeface="맑은 고딕"/>
              </a:rPr>
              <a:t>· 매일 바르는 데일리 장벽 크림 — 스킨케어 단계 최소화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00">
                <a:solidFill>
                  <a:srgbClr val="212121"/>
                </a:solidFill>
                <a:latin typeface="맑은 고딕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00" b="1">
                <a:solidFill>
                  <a:srgbClr val="1F3864"/>
                </a:solidFill>
                <a:latin typeface="맑은 고딕"/>
              </a:rPr>
              <a:t>[차별점 — 경쟁 SKU 비교표로 증명(첨부 필수)]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00">
                <a:solidFill>
                  <a:srgbClr val="212121"/>
                </a:solidFill>
                <a:latin typeface="맑은 고딕"/>
              </a:rPr>
              <a:t>· 표 축: 4만원대 국산 시카·장벽 크림 SKU(닥터지/아누아/토리든/스킨1004 등) × [병풀 함량·처방형태 / 일반·민감성 이중 임상 유무 / 용량·ml당 단가 / 시술후 소구]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00">
                <a:solidFill>
                  <a:srgbClr val="212121"/>
                </a:solidFill>
                <a:latin typeface="맑은 고딕"/>
              </a:rPr>
              <a:t>· 슬로보다만 채우는 칸: [이중 임상 자극지수 0.00 + 병풀잎수 베이스 + 시술후 리커버리] 교집합 → '이 조합은 없음' 시각 증명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00">
                <a:solidFill>
                  <a:srgbClr val="212121"/>
                </a:solidFill>
                <a:latin typeface="맑은 고딕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00" b="1">
                <a:solidFill>
                  <a:srgbClr val="1F3864"/>
                </a:solidFill>
                <a:latin typeface="맑은 고딕"/>
              </a:rPr>
              <a:t>[매대 구성 — 온/오프 분리]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00">
                <a:solidFill>
                  <a:srgbClr val="212121"/>
                </a:solidFill>
                <a:latin typeface="맑은 고딕"/>
              </a:rPr>
              <a:t>· 온라인 진입: 히어로 1 SKU 집중(미니멀 컨셉 강화)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00">
                <a:solidFill>
                  <a:srgbClr val="212121"/>
                </a:solidFill>
                <a:latin typeface="맑은 고딕"/>
              </a:rPr>
              <a:t>· 오프라인 확대: 본품 50ml + 미니(트래블) + 리필 = 동일 히어로 용량 변주로 브랜드존 방어 (앰플·클렌저 등 신규 카테고리는 실적 후)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00">
                <a:solidFill>
                  <a:srgbClr val="212121"/>
                </a:solidFill>
                <a:latin typeface="맑은 고딕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00" b="1">
                <a:solidFill>
                  <a:srgbClr val="1F3864"/>
                </a:solidFill>
                <a:latin typeface="맑은 고딕"/>
              </a:rPr>
              <a:t>[가격 정당화 — 함량이 아니라 사용맥락]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00">
                <a:solidFill>
                  <a:srgbClr val="212121"/>
                </a:solidFill>
                <a:latin typeface="맑은 고딕"/>
              </a:rPr>
              <a:t>· '시술비 20~30만원 → 4.3만원 홈케어' 앵커링 + ml당 단가 비교표로 라로슈포제 대비 우위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00">
                <a:solidFill>
                  <a:srgbClr val="212121"/>
                </a:solidFill>
                <a:latin typeface="맑은 고딕"/>
              </a:rPr>
              <a:t>· 첫구매 쿠폰·미니 SKU로 체감 3만원대 진입가 설계 (정가 훼손이 아닌 '진입 문턱' 설계)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00">
                <a:solidFill>
                  <a:srgbClr val="212121"/>
                </a:solidFill>
                <a:latin typeface="맑은 고딕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00" b="1">
                <a:solidFill>
                  <a:srgbClr val="1F3864"/>
                </a:solidFill>
                <a:latin typeface="맑은 고딕"/>
              </a:rPr>
              <a:t>[첨부 이미지 4종 必 — 실제 이미지 [기입]]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00">
                <a:solidFill>
                  <a:srgbClr val="212121"/>
                </a:solidFill>
                <a:latin typeface="맑은 고딕"/>
              </a:rPr>
              <a:t>· ① 제품 단독컷 ② 임상 인증 그래픽(기관명 포함) ③ 병풀잎수 처방 클로즈업 ④ 시술 후 사용 시나리오컷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8412480" cy="274320"/>
          </a:xfrm>
          <a:prstGeom prst="rect">
            <a:avLst/>
          </a:prstGeom>
          <a:solidFill>
            <a:srgbClr val="1F3864"/>
          </a:solidFill>
          <a:ln>
            <a:solidFill>
              <a:srgbClr val="1F3864"/>
            </a:solidFill>
          </a:ln>
        </p:spPr>
        <p:txBody>
          <a:bodyPr wrap="none" lIns="76200" tIns="12700" bIns="1270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맑은 고딕"/>
              </a:rPr>
              <a:t>올리브영 상품·브랜드 입점 제안 : 성과 및 마케팅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029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12121"/>
                </a:solidFill>
                <a:latin typeface="맑은 고딕"/>
              </a:rPr>
              <a:t>마케팅 계획  /  올리브영 입점 희망 이유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868680"/>
            <a:ext cx="8503920" cy="4114800"/>
          </a:xfrm>
          <a:prstGeom prst="rect">
            <a:avLst/>
          </a:prstGeom>
          <a:noFill/>
          <a:ln>
            <a:solidFill>
              <a:srgbClr val="BBBBBB"/>
            </a:solidFill>
          </a:ln>
        </p:spPr>
        <p:txBody>
          <a:bodyPr wrap="square" lIns="101600" tIns="63500" rIns="10160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00" b="1">
                <a:solidFill>
                  <a:srgbClr val="1F3864"/>
                </a:solidFill>
                <a:latin typeface="맑은 고딕"/>
              </a:rPr>
              <a:t>[마케팅 계획]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00" b="1">
                <a:solidFill>
                  <a:srgbClr val="1F3864"/>
                </a:solidFill>
                <a:latin typeface="맑은 고딕"/>
              </a:rPr>
              <a:t>[방향 — 신생 인지도 약점 상쇄]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00">
                <a:solidFill>
                  <a:srgbClr val="212121"/>
                </a:solidFill>
                <a:latin typeface="맑은 고딕"/>
              </a:rPr>
              <a:t>· 브랜드+제품 키워드 점유 + 후기 볼륨 확보 최우선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00">
                <a:solidFill>
                  <a:srgbClr val="212121"/>
                </a:solidFill>
                <a:latin typeface="맑은 고딕"/>
              </a:rPr>
              <a:t>· 3대 메시지(임상 비자극 / 병풀잎수 베이스 / 크림 하나)로 통일된 캠페인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00">
                <a:solidFill>
                  <a:srgbClr val="212121"/>
                </a:solidFill>
                <a:latin typeface="맑은 고딕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00" b="1">
                <a:solidFill>
                  <a:srgbClr val="1F3864"/>
                </a:solidFill>
                <a:latin typeface="맑은 고딕"/>
              </a:rPr>
              <a:t>[실행]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00">
                <a:solidFill>
                  <a:srgbClr val="212121"/>
                </a:solidFill>
                <a:latin typeface="맑은 고딕"/>
              </a:rPr>
              <a:t>· 블로그 체험단·유튜브 숏폼·크리에이터 공동구매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00">
                <a:solidFill>
                  <a:srgbClr val="212121"/>
                </a:solidFill>
                <a:latin typeface="맑은 고딕"/>
              </a:rPr>
              <a:t>· '리커버리 위크' 선착순 + 알림받기 쿠폰 + 임상 인증 리뷰 이벤트로 첫구매·리뷰 임계치 확보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00">
                <a:solidFill>
                  <a:srgbClr val="212121"/>
                </a:solidFill>
                <a:latin typeface="맑은 고딕"/>
              </a:rPr>
              <a:t>· 첫구매 쿠폰·미니 SKU로 가격 저항 완화(체감 3만원대 진입)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00">
                <a:solidFill>
                  <a:srgbClr val="212121"/>
                </a:solidFill>
                <a:latin typeface="맑은 고딕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00" b="1">
                <a:solidFill>
                  <a:srgbClr val="1F3864"/>
                </a:solidFill>
                <a:latin typeface="맑은 고딕"/>
              </a:rPr>
              <a:t>[올리브영 연계 — 브랜드가 리스크를 부담]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00">
                <a:solidFill>
                  <a:srgbClr val="212121"/>
                </a:solidFill>
                <a:latin typeface="맑은 고딕"/>
              </a:rPr>
              <a:t>· 온라인몰 입점 시 초도 리뷰 [목표 100건]을 브랜드 비용으로 확보 → 데이터 리스크를 브랜드가 짐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00">
                <a:solidFill>
                  <a:srgbClr val="212121"/>
                </a:solidFill>
                <a:latin typeface="맑은 고딕"/>
              </a:rPr>
              <a:t>· 전용 기획전·오늘드림·리뷰 이벤트 연동 예산 [기입]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00">
                <a:solidFill>
                  <a:srgbClr val="212121"/>
                </a:solidFill>
                <a:latin typeface="맑은 고딕"/>
              </a:rPr>
              <a:t>· CS 전담·반품 3PL·패치테스트 권고 문구로 민감피부 클레임 선제 차단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00">
                <a:solidFill>
                  <a:srgbClr val="212121"/>
                </a:solidFill>
                <a:latin typeface="맑은 고딕"/>
              </a:rPr>
              <a:t>· 총 예산·월 배분 [기입]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00">
                <a:solidFill>
                  <a:srgbClr val="212121"/>
                </a:solidFill>
                <a:latin typeface="맑은 고딕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00" b="1">
                <a:solidFill>
                  <a:srgbClr val="1F3864"/>
                </a:solidFill>
                <a:latin typeface="맑은 고딕"/>
              </a:rPr>
              <a:t>[올리브영 입점 희망 이유 — MD 관점의 이익]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00" b="1">
                <a:solidFill>
                  <a:srgbClr val="1F3864"/>
                </a:solidFill>
                <a:latin typeface="맑은 고딕"/>
              </a:rPr>
              <a:t>[MD 이익 언어로 재작성 — '인지도 상승'은 브랜드 이익, 아래는 MD 이익]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00">
                <a:solidFill>
                  <a:srgbClr val="212121"/>
                </a:solidFill>
                <a:latin typeface="맑은 고딕"/>
              </a:rPr>
              <a:t>· ① 매대 순증(대체 아님): 경쟁 SKU 비교표로 '병풀 베이스 + 이중 임상 + 시술후' 교집합 부재를 사실 증명 → 기존 라인 잠식 없이 슬롯 순증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00">
                <a:solidFill>
                  <a:srgbClr val="212121"/>
                </a:solidFill>
                <a:latin typeface="맑은 고딕"/>
              </a:rPr>
              <a:t>· ② '검색은 뜨는데 매대엔 약한' 슬롯 지목: 시술후 리커버리 + 병풀·시카(마데카소사이드·센텔라 판매 상위권). 자사 성분과 직결된 올리브영 실판매·검색 데이터로 근거화 (※PDRN 등 무관 성분 성장률 인용은 삭제)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00">
                <a:solidFill>
                  <a:srgbClr val="212121"/>
                </a:solidFill>
                <a:latin typeface="맑은 고딕"/>
              </a:rPr>
              <a:t>· ③ 데이터 리스크를 브랜드가 부담: 온라인몰 초도 리뷰 100건 브랜드 비용 확보 + 재구매율로 회전율 선증명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00">
                <a:solidFill>
                  <a:srgbClr val="212121"/>
                </a:solidFill>
                <a:latin typeface="맑은 고딕"/>
              </a:rPr>
              <a:t>· ④ 결품·품질 리스크 방어: CGMP·PL보험·재공급 보증(안전재고 상시)으로 올리브영 무부담 구조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00">
                <a:solidFill>
                  <a:srgbClr val="212121"/>
                </a:solidFill>
                <a:latin typeface="맑은 고딕"/>
              </a:rPr>
              <a:t>· ⑤ 저리스크 진입: 오프라인이 아닌 '온라인몰 단독 입점'으로 목표 하향 → 슬롯·리뷰관리 부담을 MD가 판단할 수 있는 최소 단위로 제안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00">
                <a:solidFill>
                  <a:srgbClr val="212121"/>
                </a:solidFill>
                <a:latin typeface="맑은 고딕"/>
              </a:rPr>
              <a:t>· ⑥ 인바운드·글로벌 접점: 병풀 베이스 + 임상은 외국인 구매 이유 명확 → 글로벌몰 역직구 연결(국내 실적 후)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8412480" cy="274320"/>
          </a:xfrm>
          <a:prstGeom prst="rect">
            <a:avLst/>
          </a:prstGeom>
          <a:solidFill>
            <a:srgbClr val="1F3864"/>
          </a:solidFill>
          <a:ln>
            <a:solidFill>
              <a:srgbClr val="1F3864"/>
            </a:solidFill>
          </a:ln>
        </p:spPr>
        <p:txBody>
          <a:bodyPr wrap="none" lIns="76200" tIns="12700" bIns="1270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맑은 고딕"/>
              </a:rPr>
              <a:t>올리브영 상품·브랜드 입점 제안 : 부록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029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12121"/>
                </a:solidFill>
                <a:latin typeface="맑은 고딕"/>
              </a:rPr>
              <a:t>시장 근거 · 경쟁 SKU 비교표 · 올리브영 온라인 단독 런칭 플랜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868680"/>
            <a:ext cx="8503920" cy="4114800"/>
          </a:xfrm>
          <a:prstGeom prst="rect">
            <a:avLst/>
          </a:prstGeom>
          <a:noFill/>
          <a:ln>
            <a:solidFill>
              <a:srgbClr val="BBBBBB"/>
            </a:solidFill>
          </a:ln>
        </p:spPr>
        <p:txBody>
          <a:bodyPr wrap="square" lIns="101600" tIns="63500" rIns="10160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50" b="1">
                <a:solidFill>
                  <a:srgbClr val="1F3864"/>
                </a:solidFill>
                <a:latin typeface="맑은 고딕"/>
              </a:rPr>
              <a:t>[1. 시장 근거 — 출처 없는 통계는 삭제, 1차 출처만 인용]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50">
                <a:solidFill>
                  <a:srgbClr val="212121"/>
                </a:solidFill>
                <a:latin typeface="맑은 고딕"/>
              </a:rPr>
              <a:t>· '민감성 인식 87%' '시장 5조·CAGR 14%' 등은 반드시 [기관·리포트명·연도] 명기 후 인용, 확인 불가 시 삭제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50">
                <a:solidFill>
                  <a:srgbClr val="212121"/>
                </a:solidFill>
                <a:latin typeface="맑은 고딕"/>
              </a:rPr>
              <a:t>· 자사 성분 직결 근거만 사용: 올리브영 내 병풀·시카(마데카소사이드/센텔라) 판매 상위 + '시술후케어' 검색 슬롯 (실데이터 캡처 [기입])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50">
                <a:solidFill>
                  <a:srgbClr val="212121"/>
                </a:solidFill>
                <a:latin typeface="맑은 고딕"/>
              </a:rPr>
              <a:t>· ※PDRN 검색 성장률 등 이 제품에 없는 성분 데이터 인용은 삭제 (논리 비약, MD 즉시 간파)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50">
                <a:solidFill>
                  <a:srgbClr val="212121"/>
                </a:solidFill>
                <a:latin typeface="맑은 고딕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50" b="1">
                <a:solidFill>
                  <a:srgbClr val="1F3864"/>
                </a:solidFill>
                <a:latin typeface="맑은 고딕"/>
              </a:rPr>
              <a:t>[2. 경쟁 SKU 비교표(첨부 필수) — '공백' 주장을 사실로]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50">
                <a:solidFill>
                  <a:srgbClr val="212121"/>
                </a:solidFill>
                <a:latin typeface="맑은 고딕"/>
              </a:rPr>
              <a:t>· 4만원대 국산 시카·장벽 크림 실제 SKU 리스트업(닥터지/아누아/토리든/스킨1004 등)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50">
                <a:solidFill>
                  <a:srgbClr val="212121"/>
                </a:solidFill>
                <a:latin typeface="맑은 고딕"/>
              </a:rPr>
              <a:t>· 비교 축: 병풀 함량·처방형태 / 일반·민감성 이중 임상 유무 / 용량·ml당 단가 / 시술후 소구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50">
                <a:solidFill>
                  <a:srgbClr val="212121"/>
                </a:solidFill>
                <a:latin typeface="맑은 고딕"/>
              </a:rPr>
              <a:t>· 결론 칸: 슬로보다만 채우는 [이중 임상 자극지수 0.00 + 병풀잎수 베이스 + 시술후 리커버리] 교집합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50">
                <a:solidFill>
                  <a:srgbClr val="212121"/>
                </a:solidFill>
                <a:latin typeface="맑은 고딕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50" b="1">
                <a:solidFill>
                  <a:srgbClr val="1F3864"/>
                </a:solidFill>
                <a:latin typeface="맑은 고딕"/>
              </a:rPr>
              <a:t>[3. 올리브영 온라인 단독 런칭 플랜 — 목표 하향(채택확률↑)]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50">
                <a:solidFill>
                  <a:srgbClr val="212121"/>
                </a:solidFill>
                <a:latin typeface="맑은 고딕"/>
              </a:rPr>
              <a:t>· 1단계(0~3개월): 온라인몰 단독 입점 + 기획전 → 초도 리뷰 100건(브랜드 비용)·재구매율로 회전율 증명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50">
                <a:solidFill>
                  <a:srgbClr val="212121"/>
                </a:solidFill>
                <a:latin typeface="맑은 고딕"/>
              </a:rPr>
              <a:t>· 2단계(3~6개월): 지표 달성 시 오프라인 소수 매장 테스트, 초도 2~3 SKU(본품+미니+리필) 브랜드존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50">
                <a:solidFill>
                  <a:srgbClr val="212121"/>
                </a:solidFill>
                <a:latin typeface="맑은 고딕"/>
              </a:rPr>
              <a:t>· 3단계(6개월~): 실적 근거로 전점·글로벌몰 확대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50">
                <a:solidFill>
                  <a:srgbClr val="212121"/>
                </a:solidFill>
                <a:latin typeface="맑은 고딕"/>
              </a:rPr>
              <a:t>· 병행: '즐거운 동행'·'K-슈퍼루키 위드영' 프로그램 동시 지원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8412480" cy="274320"/>
          </a:xfrm>
          <a:prstGeom prst="rect">
            <a:avLst/>
          </a:prstGeom>
          <a:solidFill>
            <a:srgbClr val="1F3864"/>
          </a:solidFill>
          <a:ln>
            <a:solidFill>
              <a:srgbClr val="1F3864"/>
            </a:solidFill>
          </a:ln>
        </p:spPr>
        <p:txBody>
          <a:bodyPr wrap="none" lIns="76200" tIns="12700" bIns="1270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맑은 고딕"/>
              </a:rPr>
              <a:t>올리브영 상품·브랜드 입점 제안 : 부록 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029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12121"/>
                </a:solidFill>
                <a:latin typeface="맑은 고딕"/>
              </a:rPr>
              <a:t>공급·품질 준비도 · 마진 검증 · 매출 시나리오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868680"/>
            <a:ext cx="8503920" cy="4114800"/>
          </a:xfrm>
          <a:prstGeom prst="rect">
            <a:avLst/>
          </a:prstGeom>
          <a:noFill/>
          <a:ln>
            <a:solidFill>
              <a:srgbClr val="BBBBBB"/>
            </a:solidFill>
          </a:ln>
        </p:spPr>
        <p:txBody>
          <a:bodyPr wrap="square" lIns="101600" tIns="63500" rIns="10160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50" b="1">
                <a:solidFill>
                  <a:srgbClr val="1F3864"/>
                </a:solidFill>
                <a:latin typeface="맑은 고딕"/>
              </a:rPr>
              <a:t>[4. 공급·품질 준비도 — '결품'·'사고' 공포 선제 해소]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50">
                <a:solidFill>
                  <a:srgbClr val="212121"/>
                </a:solidFill>
                <a:latin typeface="맑은 고딕"/>
              </a:rPr>
              <a:t>· 제조 허니스트: CGMP·ISO22716 [확인·명기]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50">
                <a:solidFill>
                  <a:srgbClr val="212121"/>
                </a:solidFill>
                <a:latin typeface="맑은 고딕"/>
              </a:rPr>
              <a:t>· 월 캐파 [기입] / MOQ [기입] / 리드타임 [기입]주 / 완판 시 [기입]주 내 재공급 보증 + 안전재고 [기입]개 상시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50">
                <a:solidFill>
                  <a:srgbClr val="212121"/>
                </a:solidFill>
                <a:latin typeface="맑은 고딕"/>
              </a:rPr>
              <a:t>· 화장품책임판매업 등록·PL보험 가입 [기입] / 로트별 CoA·안정성·미생물 성적 상시 제출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50">
                <a:solidFill>
                  <a:srgbClr val="212121"/>
                </a:solidFill>
                <a:latin typeface="맑은 고딕"/>
              </a:rPr>
              <a:t>· CS 전담·반품 3PL·알러지 클레임 SOP + 패치테스트 권고·전성분 상세 고지 (민감피부 타깃 클레임 선제 차단)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50">
                <a:solidFill>
                  <a:srgbClr val="212121"/>
                </a:solidFill>
                <a:latin typeface="맑은 고딕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50" b="1">
                <a:solidFill>
                  <a:srgbClr val="1F3864"/>
                </a:solidFill>
                <a:latin typeface="맑은 고딕"/>
              </a:rPr>
              <a:t>[5. 마진·수익성 — '입점 후 이익 나는가' 사전검증]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50">
                <a:solidFill>
                  <a:srgbClr val="212121"/>
                </a:solidFill>
                <a:latin typeface="맑은 고딕"/>
              </a:rPr>
              <a:t>· 제품 원가 [기입] 기준, 올리브영 유통마진·물류·EDI·판촉분담 반영 후 영업이익률 [기입]% 확보 검증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50">
                <a:solidFill>
                  <a:srgbClr val="212121"/>
                </a:solidFill>
                <a:latin typeface="맑은 고딕"/>
              </a:rPr>
              <a:t>· 첫구매 쿠폰 분담 여력 [기입]원 내 설계 → 판촉비 소진 후 이탈 리스크 차단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50">
                <a:solidFill>
                  <a:srgbClr val="212121"/>
                </a:solidFill>
                <a:latin typeface="맑은 고딕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50" b="1">
                <a:solidFill>
                  <a:srgbClr val="1F3864"/>
                </a:solidFill>
                <a:latin typeface="맑은 고딕"/>
              </a:rPr>
              <a:t>[6. 완결 매출 시나리오 — 최소 1개는 실수치로(빈 프레임워크 금지)]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50">
                <a:solidFill>
                  <a:srgbClr val="212121"/>
                </a:solidFill>
                <a:latin typeface="맑은 고딕"/>
              </a:rPr>
              <a:t>· 자사 온라인 실판매 데이터로 보수 가정 1개 시나리오를 '완결된 숫자'로 제시 (값을 못 채우면 이 슬라이드는 통째 삭제)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50">
                <a:solidFill>
                  <a:srgbClr val="212121"/>
                </a:solidFill>
                <a:latin typeface="맑은 고딕"/>
              </a:rPr>
              <a:t>· 프레임(협상 테이블 즉시 대입용): 월 소매매출 = 43,000원 × 매대당 일판매 q × 매장수 N × 25일 / 재구매율·회전일 반영 순증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50">
                <a:solidFill>
                  <a:srgbClr val="212121"/>
                </a:solidFill>
                <a:latin typeface="맑은 고딕"/>
              </a:rPr>
              <a:t>· 변수 실측 대입 필수: N=[기입], q=[보수 가정·기입], 회전일 [기입], 재구매율 [기입] — 확정 전까지는 슬라이드 노출 보류. 허위 수치 금지.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Vision &amp; Strategy">
  <a:themeElements>
    <a:clrScheme name="Vision &amp; Strategy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Vision &amp; Strategy">
      <a:majorFont>
        <a:latin typeface="Tahoma"/>
        <a:ea typeface="JBold"/>
        <a:cs typeface=""/>
      </a:majorFont>
      <a:minorFont>
        <a:latin typeface="JBold"/>
        <a:ea typeface="JBold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5"/>
        </a:solidFill>
        <a:ln w="9525" cap="flat" cmpd="sng" algn="ctr">
          <a:noFill/>
          <a:prstDash val="solid"/>
          <a:round/>
          <a:headEnd type="none" w="med" len="med"/>
          <a:tailEnd type="triangle" w="med" len="med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a:spPr>
      <a:bodyPr vert="horz" wrap="square" lIns="91440" tIns="45720" rIns="91440" bIns="45720" numCol="1" rtlCol="0" anchor="t" anchorCtr="0" compatLnSpc="1">
        <a:prstTxWarp prst="textNoShape">
          <a:avLst/>
        </a:prstTxWarp>
        <a:spAutoFit/>
      </a:bodyPr>
      <a:lstStyle>
        <a:defPPr marL="85725" marR="0" indent="-85725" algn="ctr" defTabSz="914400" rtl="0" eaLnBrk="1" fontAlgn="base" latinLnBrk="1" hangingPunct="1">
          <a:lnSpc>
            <a:spcPct val="110000"/>
          </a:lnSpc>
          <a:spcBef>
            <a:spcPct val="0"/>
          </a:spcBef>
          <a:spcAft>
            <a:spcPct val="0"/>
          </a:spcAft>
          <a:buClrTx/>
          <a:buSzTx/>
          <a:buFontTx/>
          <a:buChar char="•"/>
          <a:tabLst/>
          <a:defRPr kumimoji="1" sz="1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JBold" pitchFamily="18" charset="-127"/>
            <a:ea typeface="JBold" pitchFamily="18" charset="-127"/>
          </a:defRPr>
        </a:defPPr>
      </a:lstStyle>
    </a:spDef>
    <a:ln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a:spPr>
      <a:bodyPr/>
      <a:lstStyle/>
    </a:lnDef>
    <a:txDef>
      <a:spPr>
        <a:solidFill>
          <a:schemeClr val="bg1">
            <a:lumMod val="85000"/>
          </a:schemeClr>
        </a:solidFill>
        <a:effectLst>
          <a:outerShdw blurRad="50800" dist="38100" dir="2700000" algn="tl" rotWithShape="0">
            <a:prstClr val="black">
              <a:alpha val="40000"/>
            </a:prstClr>
          </a:outerShdw>
        </a:effectLst>
      </a:spPr>
      <a:bodyPr wrap="square" rtlCol="0">
        <a:spAutoFit/>
      </a:bodyPr>
      <a:lstStyle>
        <a:defPPr latinLnBrk="0">
          <a:lnSpc>
            <a:spcPct val="150000"/>
          </a:lnSpc>
          <a:defRPr sz="1600" b="1" dirty="0" smtClean="0">
            <a:latin typeface="가는각진제목체" pitchFamily="18" charset="-127"/>
            <a:ea typeface="가는각진제목체" pitchFamily="18" charset="-127"/>
            <a:cs typeface="Arial" pitchFamily="34" charset="0"/>
          </a:defRPr>
        </a:defPPr>
      </a:lstStyle>
    </a:txDef>
  </a:objectDefaults>
  <a:extraClrSchemeLst>
    <a:extraClrScheme>
      <a:clrScheme name="Vision &amp; Strategy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ision &amp; Strategy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ision &amp; Strategy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ision &amp; Strategy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ision &amp; Strategy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ision &amp; Strategy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ision &amp; Strategy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ision &amp; Strategy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ision &amp; Strategy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ision &amp; Strategy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ision &amp; Strategy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ision &amp; Strategy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2_Vision &amp; Strategy">
  <a:themeElements>
    <a:clrScheme name="Vision &amp; Strategy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Vision &amp; Strategy">
      <a:majorFont>
        <a:latin typeface="Tahoma"/>
        <a:ea typeface="JBold"/>
        <a:cs typeface=""/>
      </a:majorFont>
      <a:minorFont>
        <a:latin typeface="JBold"/>
        <a:ea typeface="JBold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5"/>
        </a:solidFill>
        <a:ln w="9525" cap="flat" cmpd="sng" algn="ctr">
          <a:noFill/>
          <a:prstDash val="solid"/>
          <a:round/>
          <a:headEnd type="none" w="med" len="med"/>
          <a:tailEnd type="triangle" w="med" len="med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a:spPr>
      <a:bodyPr vert="horz" wrap="square" lIns="91440" tIns="45720" rIns="91440" bIns="45720" numCol="1" rtlCol="0" anchor="t" anchorCtr="0" compatLnSpc="1">
        <a:prstTxWarp prst="textNoShape">
          <a:avLst/>
        </a:prstTxWarp>
        <a:spAutoFit/>
      </a:bodyPr>
      <a:lstStyle>
        <a:defPPr marL="85725" marR="0" indent="-85725" algn="ctr" defTabSz="914400" rtl="0" eaLnBrk="1" fontAlgn="base" latinLnBrk="1" hangingPunct="1">
          <a:lnSpc>
            <a:spcPct val="110000"/>
          </a:lnSpc>
          <a:spcBef>
            <a:spcPct val="0"/>
          </a:spcBef>
          <a:spcAft>
            <a:spcPct val="0"/>
          </a:spcAft>
          <a:buClrTx/>
          <a:buSzTx/>
          <a:buFontTx/>
          <a:buChar char="•"/>
          <a:tabLst/>
          <a:defRPr kumimoji="1" sz="1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JBold" pitchFamily="18" charset="-127"/>
            <a:ea typeface="JBold" pitchFamily="18" charset="-127"/>
          </a:defRPr>
        </a:defPPr>
      </a:lstStyle>
    </a:spDef>
    <a:ln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a:spPr>
      <a:bodyPr/>
      <a:lstStyle/>
    </a:lnDef>
    <a:txDef>
      <a:spPr>
        <a:solidFill>
          <a:srgbClr val="66B826"/>
        </a:solidFill>
        <a:ln>
          <a:noFill/>
        </a:ln>
      </a:spPr>
      <a:bodyPr wrap="square" rtlCol="0" anchor="ctr">
        <a:spAutoFit/>
      </a:bodyPr>
      <a:lstStyle>
        <a:defPPr algn="l">
          <a:defRPr sz="1000" dirty="0" smtClean="0"/>
        </a:defPPr>
      </a:lstStyle>
    </a:txDef>
  </a:objectDefaults>
  <a:extraClrSchemeLst>
    <a:extraClrScheme>
      <a:clrScheme name="Vision &amp; Strategy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ision &amp; Strategy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ision &amp; Strategy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ision &amp; Strategy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ision &amp; Strategy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ision &amp; Strategy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ision &amp; Strategy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ision &amp; Strategy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ision &amp; Strategy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ision &amp; Strategy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ision &amp; Strategy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ision &amp; Strategy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MMClips>0</MMClips>
  <HiddenSlides>0</HiddenSlides>
  <LinksUpToDate>false</LinksUpToDate>
  <Notes>1</Notes>
  <Paragraphs>55</Paragraphs>
  <PresentationFormat>화면 슬라이드 쇼(16:9)</PresentationFormat>
  <ScaleCrop>false</ScaleCrop>
  <Slides>4</Slides>
  <SharedDoc>false</SharedDoc>
  <HyperlinksChanged>false</HyperlinksChanged>
  <AppVersion>16.0000</AppVersion>
  <Words>334</Words>
  <TotalTime>0</TotalTime>
  <Application>Microsoft Office PowerPoint</Application>
  <Template/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?��???;; ; cj:QFkC/q8Kh5G+E9sOVG8jlnbrtLw=*vdi_sunshine6108</dc:creator>
  <dcterms:modified xsi:type="dcterms:W3CDTF">2026-06-10T04:23:49Z</dcterms:modified>
  <dc:title>슬라이드 0</dc:title>
  <cp:lastPrinted>2026-06-10T04:22:20Z</cp:lastPrinted>
  <cp:lastModifiedBy>박세웅님</cp:lastModifiedBy>
  <dcterms:created xsi:type="dcterms:W3CDTF">2008-08-06T12:45:46Z</dcterms:created>
  <cp:revision>13639</cp:revision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FDRClass">
    <vt:lpwstr>0</vt:lpwstr>
  </property>
  <property fmtid="{D5CDD505-2E9C-101B-9397-08002B2CF9AE}" pid="3" name="FDRSet">
    <vt:lpwstr>manual</vt:lpwstr>
  </property>
  <property fmtid="{D5CDD505-2E9C-101B-9397-08002B2CF9AE}" pid="4" name="Fasoo_Trace_ID">
    <vt:lpwstr>eyAibm9kZUNvdW50IjogMTAsICJub2RlMSIgOiB7ImRzZCI6IjAxMDAwMDAwMDAwMDIxMDMiLCJsb2dUaW1lIjoiMjAyNS0wMS0wN1QwMDo0ODoyMVoiLCJwSUQiOjEsInByb2Nlc3NOYW1lIjoiUE9XRVJQTlQuRVhFIiwidHJhY2VJZCI6IjREMjBFMjMxMkQxNDREODhCRjc1NjgwNUNENUUxOEUzIiwidXNlckNvZGUiOiJwdXJpdHVzIn0</vt:lpwstr>
  </property>
  <property fmtid="{D5CDD505-2E9C-101B-9397-08002B2CF9AE}" pid="5" name="NumberOfSlides">
    <vt:lpwstr>31</vt:lpwstr>
  </property>
  <property fmtid="{D5CDD505-2E9C-101B-9397-08002B2CF9AE}" pid="6" name="RevisionCount">
    <vt:lpwstr>21</vt:lpwstr>
  </property>
  <property fmtid="{D5CDD505-2E9C-101B-9397-08002B2CF9AE}" pid="7" name="MSIP_Label_d132b298-d092-4ba9-a1be-2a4de4a74ea4_Enabled">
    <vt:lpwstr>true</vt:lpwstr>
  </property>
  <property fmtid="{D5CDD505-2E9C-101B-9397-08002B2CF9AE}" pid="8" name="MSIP_Label_d132b298-d092-4ba9-a1be-2a4de4a74ea4_SetDate">
    <vt:lpwstr>2026-07-03T01:31:28Z</vt:lpwstr>
  </property>
  <property fmtid="{D5CDD505-2E9C-101B-9397-08002B2CF9AE}" pid="9" name="MSIP_Label_d132b298-d092-4ba9-a1be-2a4de4a74ea4_Method">
    <vt:lpwstr>Privileged</vt:lpwstr>
  </property>
  <property fmtid="{D5CDD505-2E9C-101B-9397-08002B2CF9AE}" pid="10" name="MSIP_Label_d132b298-d092-4ba9-a1be-2a4de4a74ea4_Name">
    <vt:lpwstr>평문화</vt:lpwstr>
  </property>
  <property fmtid="{D5CDD505-2E9C-101B-9397-08002B2CF9AE}" pid="11" name="MSIP_Label_d132b298-d092-4ba9-a1be-2a4de4a74ea4_SiteId">
    <vt:lpwstr>ee6af5c5-684f-4539-9eb6-64793af08027</vt:lpwstr>
  </property>
  <property fmtid="{D5CDD505-2E9C-101B-9397-08002B2CF9AE}" pid="12" name="MSIP_Label_d132b298-d092-4ba9-a1be-2a4de4a74ea4_ActionId">
    <vt:lpwstr>37695e36-8f80-4ae5-95eb-b3f21e3bbb2a</vt:lpwstr>
  </property>
  <property fmtid="{D5CDD505-2E9C-101B-9397-08002B2CF9AE}" pid="13" name="MSIP_Label_d132b298-d092-4ba9-a1be-2a4de4a74ea4_ContentBits">
    <vt:lpwstr>0</vt:lpwstr>
  </property>
</Properties>
</file>