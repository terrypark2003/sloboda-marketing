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7" r:id="rId1"/>
    <p:sldMasterId id="2147483738" r:id="rId2"/>
  </p:sldMasterIdLst>
  <p:notesMasterIdLst>
    <p:notesMasterId r:id="rId7"/>
  </p:notesMasterIdLst>
  <p:handoutMasterIdLst>
    <p:handoutMasterId r:id="rId8"/>
  </p:handoutMasterIdLst>
  <p:sldIdLst>
    <p:sldId id="4481" r:id="rId3"/>
    <p:sldId id="4486" r:id="rId4"/>
    <p:sldId id="4488" r:id="rId5"/>
    <p:sldId id="4492" r:id="rId14"/>
    <p:sldId id="4491" r:id="rId6"/>
    <p:sldId id="4493" r:id="rId15"/>
    <p:sldId id="4494" r:id="rId16"/>
    <p:sldId id="4495" r:id="rId17"/>
  </p:sldIdLst>
  <p:sldSz cx="9144000" cy="5143500" type="screen16x9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1pPr>
    <a:lvl2pPr marL="342900" algn="l" rtl="0" fontAlgn="base" latinLnBrk="1">
      <a:spcBef>
        <a:spcPct val="0"/>
      </a:spcBef>
      <a:spcAft>
        <a:spcPct val="0"/>
      </a:spcAft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2pPr>
    <a:lvl3pPr marL="685800" algn="l" rtl="0" fontAlgn="base" latinLnBrk="1">
      <a:spcBef>
        <a:spcPct val="0"/>
      </a:spcBef>
      <a:spcAft>
        <a:spcPct val="0"/>
      </a:spcAft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3pPr>
    <a:lvl4pPr marL="1028700" algn="l" rtl="0" fontAlgn="base" latinLnBrk="1">
      <a:spcBef>
        <a:spcPct val="0"/>
      </a:spcBef>
      <a:spcAft>
        <a:spcPct val="0"/>
      </a:spcAft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4pPr>
    <a:lvl5pPr marL="1371600" algn="l" rtl="0" fontAlgn="base" latinLnBrk="1">
      <a:spcBef>
        <a:spcPct val="0"/>
      </a:spcBef>
      <a:spcAft>
        <a:spcPct val="0"/>
      </a:spcAft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5pPr>
    <a:lvl6pPr marL="1714500" algn="l" defTabSz="685800" rtl="0" eaLnBrk="1" latinLnBrk="1" hangingPunct="1"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6pPr>
    <a:lvl7pPr marL="2057400" algn="l" defTabSz="685800" rtl="0" eaLnBrk="1" latinLnBrk="1" hangingPunct="1"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7pPr>
    <a:lvl8pPr marL="2400300" algn="l" defTabSz="685800" rtl="0" eaLnBrk="1" latinLnBrk="1" hangingPunct="1"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8pPr>
    <a:lvl9pPr marL="2743200" algn="l" defTabSz="685800" rtl="0" eaLnBrk="1" latinLnBrk="1" hangingPunct="1">
      <a:defRPr kumimoji="1" sz="900" kern="1200">
        <a:solidFill>
          <a:schemeClr val="tx1"/>
        </a:solidFill>
        <a:latin typeface="JBold" pitchFamily="18" charset="-127"/>
        <a:ea typeface="JBold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 userDrawn="1">
          <p15:clr>
            <a:srgbClr val="A4A3A4"/>
          </p15:clr>
        </p15:guide>
        <p15:guide id="3" orient="horz" pos="3024" userDrawn="1">
          <p15:clr>
            <a:srgbClr val="A4A3A4"/>
          </p15:clr>
        </p15:guide>
        <p15:guide id="8" orient="horz" pos="2126" userDrawn="1">
          <p15:clr>
            <a:srgbClr val="A4A3A4"/>
          </p15:clr>
        </p15:guide>
        <p15:guide id="16" orient="horz" pos="590" userDrawn="1">
          <p15:clr>
            <a:srgbClr val="A4A3A4"/>
          </p15:clr>
        </p15:guide>
        <p15:guide id="17" orient="horz" pos="667" userDrawn="1">
          <p15:clr>
            <a:srgbClr val="A4A3A4"/>
          </p15:clr>
        </p15:guide>
        <p15:guide id="19" pos="204" userDrawn="1">
          <p15:clr>
            <a:srgbClr val="A4A3A4"/>
          </p15:clr>
        </p15:guide>
        <p15:guide id="20" pos="1973" userDrawn="1">
          <p15:clr>
            <a:srgbClr val="A4A3A4"/>
          </p15:clr>
        </p15:guide>
        <p15:guide id="21" pos="5556" userDrawn="1">
          <p15:clr>
            <a:srgbClr val="A4A3A4"/>
          </p15:clr>
        </p15:guide>
        <p15:guide id="23" pos="37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강경희님" initials="강" lastIdx="1" clrIdx="0">
    <p:extLst>
      <p:ext uri="{19B8F6BF-5375-455C-9EA6-DF929625EA0E}">
        <p15:presenceInfo xmlns:p15="http://schemas.microsoft.com/office/powerpoint/2012/main" userId="S-1-5-21-2783917799-474850514-1677858847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8235"/>
    <a:srgbClr val="66B826"/>
    <a:srgbClr val="FFFFFF"/>
    <a:srgbClr val="D9D9D9"/>
    <a:srgbClr val="4B4BFF"/>
    <a:srgbClr val="0000FF"/>
    <a:srgbClr val="2E005C"/>
    <a:srgbClr val="430086"/>
    <a:srgbClr val="93C571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636" autoAdjust="0"/>
    <p:restoredTop sz="95078" autoAdjust="0"/>
  </p:normalViewPr>
  <p:slideViewPr>
    <p:cSldViewPr>
      <p:cViewPr varScale="1">
        <p:scale>
          <a:sx n="111" d="100"/>
          <a:sy n="111" d="100"/>
        </p:scale>
        <p:origin x="108" y="432"/>
      </p:cViewPr>
      <p:guideLst>
        <p:guide pos="2880"/>
        <p:guide orient="horz" pos="3024"/>
        <p:guide orient="horz" pos="2126"/>
        <p:guide orient="horz" pos="590"/>
        <p:guide orient="horz" pos="667"/>
        <p:guide pos="204"/>
        <p:guide pos="1973"/>
        <p:guide pos="5556"/>
        <p:guide pos="37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62" d="100"/>
          <a:sy n="62" d="100"/>
        </p:scale>
        <p:origin x="2467" y="62"/>
      </p:cViewPr>
      <p:guideLst>
        <p:guide orient="horz" pos="3126"/>
        <p:guide pos="2141"/>
      </p:guideLst>
    </p:cSldViewPr>
  </p:notesViewPr>
  <p:gridSpacing cx="72010" cy="7201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5862" cy="497333"/>
          </a:xfrm>
          <a:prstGeom prst="rect">
            <a:avLst/>
          </a:prstGeom>
        </p:spPr>
        <p:txBody>
          <a:bodyPr vert="horz" lIns="91422" tIns="45712" rIns="91422" bIns="45712" rtlCol="0"/>
          <a:lstStyle>
            <a:lvl1pPr algn="l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4" y="2"/>
            <a:ext cx="2945862" cy="497333"/>
          </a:xfrm>
          <a:prstGeom prst="rect">
            <a:avLst/>
          </a:prstGeom>
        </p:spPr>
        <p:txBody>
          <a:bodyPr vert="horz" lIns="91422" tIns="45712" rIns="91422" bIns="45712" rtlCol="0"/>
          <a:lstStyle>
            <a:lvl1pPr algn="r">
              <a:defRPr sz="1200"/>
            </a:lvl1pPr>
          </a:lstStyle>
          <a:p>
            <a:pPr>
              <a:defRPr/>
            </a:pPr>
            <a:fld id="{0C213F7E-07E5-4543-AE8F-54DE08C50692}" type="datetimeFigureOut">
              <a:rPr lang="ko-KR" altLang="en-US"/>
              <a:pPr>
                <a:defRPr/>
              </a:pPr>
              <a:t>2026-06-10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7766"/>
            <a:ext cx="2945862" cy="497332"/>
          </a:xfrm>
          <a:prstGeom prst="rect">
            <a:avLst/>
          </a:prstGeom>
        </p:spPr>
        <p:txBody>
          <a:bodyPr vert="horz" lIns="91422" tIns="45712" rIns="91422" bIns="45712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4" y="9427766"/>
            <a:ext cx="2945862" cy="497332"/>
          </a:xfrm>
          <a:prstGeom prst="rect">
            <a:avLst/>
          </a:prstGeom>
        </p:spPr>
        <p:txBody>
          <a:bodyPr vert="horz" lIns="91422" tIns="45712" rIns="91422" bIns="45712" rtlCol="0" anchor="b"/>
          <a:lstStyle>
            <a:lvl1pPr algn="r">
              <a:defRPr sz="1200"/>
            </a:lvl1pPr>
          </a:lstStyle>
          <a:p>
            <a:pPr>
              <a:defRPr/>
            </a:pPr>
            <a:fld id="{018C5E53-592E-42B4-A77C-AEDFD1303F0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77756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5862" cy="497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2" tIns="45712" rIns="91422" bIns="45712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buFontTx/>
              <a:buNone/>
              <a:defRPr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8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294" y="2"/>
            <a:ext cx="2945862" cy="497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2" tIns="45712" rIns="91422" bIns="45712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3525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8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64" y="4716194"/>
            <a:ext cx="5438748" cy="4465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2" tIns="45712" rIns="91422" bIns="4571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23340093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9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342900" algn="l" rtl="0" eaLnBrk="0" fontAlgn="base" latinLnBrk="1" hangingPunct="0">
      <a:spcBef>
        <a:spcPct val="30000"/>
      </a:spcBef>
      <a:spcAft>
        <a:spcPct val="0"/>
      </a:spcAft>
      <a:defRPr kumimoji="1" sz="9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685800" algn="l" rtl="0" eaLnBrk="0" fontAlgn="base" latinLnBrk="1" hangingPunct="0">
      <a:spcBef>
        <a:spcPct val="30000"/>
      </a:spcBef>
      <a:spcAft>
        <a:spcPct val="0"/>
      </a:spcAft>
      <a:defRPr kumimoji="1" sz="9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028700" algn="l" rtl="0" eaLnBrk="0" fontAlgn="base" latinLnBrk="1" hangingPunct="0">
      <a:spcBef>
        <a:spcPct val="30000"/>
      </a:spcBef>
      <a:spcAft>
        <a:spcPct val="0"/>
      </a:spcAft>
      <a:defRPr kumimoji="1" sz="9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371600" algn="l" rtl="0" eaLnBrk="0" fontAlgn="base" latinLnBrk="1" hangingPunct="0">
      <a:spcBef>
        <a:spcPct val="30000"/>
      </a:spcBef>
      <a:spcAft>
        <a:spcPct val="0"/>
      </a:spcAft>
      <a:defRPr kumimoji="1" sz="9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1714500" algn="l" defTabSz="685800" rtl="0" eaLnBrk="1" latinLnBrk="1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1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1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1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80226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6"/>
          <p:cNvGrpSpPr>
            <a:grpSpLocks/>
          </p:cNvGrpSpPr>
          <p:nvPr userDrawn="1"/>
        </p:nvGrpSpPr>
        <p:grpSpPr bwMode="auto">
          <a:xfrm>
            <a:off x="7097114" y="400468"/>
            <a:ext cx="1728788" cy="207962"/>
            <a:chOff x="4865" y="303"/>
            <a:chExt cx="1089" cy="131"/>
          </a:xfrm>
        </p:grpSpPr>
        <p:sp>
          <p:nvSpPr>
            <p:cNvPr id="5" name="Text Box 6"/>
            <p:cNvSpPr txBox="1">
              <a:spLocks noChangeArrowheads="1"/>
            </p:cNvSpPr>
            <p:nvPr/>
          </p:nvSpPr>
          <p:spPr bwMode="auto">
            <a:xfrm>
              <a:off x="5065" y="305"/>
              <a:ext cx="714" cy="129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 anchor="ctr">
              <a:spAutoFit/>
            </a:bodyPr>
            <a:lstStyle/>
            <a:p>
              <a:pPr algn="ctr" eaLnBrk="0" fontAlgn="ctr" latinLnBrk="0" hangingPunct="0">
                <a:spcBef>
                  <a:spcPct val="50000"/>
                </a:spcBef>
                <a:buFont typeface="Arial" charset="0"/>
                <a:buNone/>
                <a:defRPr/>
              </a:pPr>
              <a:r>
                <a:rPr lang="en-US" altLang="ko-KR" sz="750" i="1" dirty="0">
                  <a:solidFill>
                    <a:srgbClr val="000000"/>
                  </a:solidFill>
                  <a:latin typeface="ITC Avant Garde Gothic" pitchFamily="34" charset="0"/>
                  <a:ea typeface="가는각진제목체" pitchFamily="18" charset="-127"/>
                </a:rPr>
                <a:t>STRICTLY CONFIDENTIAL</a:t>
              </a:r>
            </a:p>
          </p:txBody>
        </p:sp>
        <p:sp>
          <p:nvSpPr>
            <p:cNvPr id="6" name="Line 14"/>
            <p:cNvSpPr>
              <a:spLocks noChangeShapeType="1"/>
            </p:cNvSpPr>
            <p:nvPr userDrawn="1"/>
          </p:nvSpPr>
          <p:spPr bwMode="auto">
            <a:xfrm>
              <a:off x="4865" y="303"/>
              <a:ext cx="108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lnSpc>
                  <a:spcPct val="110000"/>
                </a:lnSpc>
                <a:buFontTx/>
                <a:buChar char="•"/>
                <a:defRPr/>
              </a:pPr>
              <a:endParaRPr lang="ko-KR" altLang="en-US" sz="675">
                <a:solidFill>
                  <a:srgbClr val="000000"/>
                </a:solidFill>
              </a:endParaRPr>
            </a:p>
          </p:txBody>
        </p:sp>
        <p:sp>
          <p:nvSpPr>
            <p:cNvPr id="7" name="Line 15"/>
            <p:cNvSpPr>
              <a:spLocks noChangeShapeType="1"/>
            </p:cNvSpPr>
            <p:nvPr userDrawn="1"/>
          </p:nvSpPr>
          <p:spPr bwMode="auto">
            <a:xfrm>
              <a:off x="4865" y="432"/>
              <a:ext cx="108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lnSpc>
                  <a:spcPct val="110000"/>
                </a:lnSpc>
                <a:buFontTx/>
                <a:buChar char="•"/>
                <a:defRPr/>
              </a:pPr>
              <a:endParaRPr lang="ko-KR" altLang="en-US" sz="675">
                <a:solidFill>
                  <a:srgbClr val="000000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239" y="3832000"/>
            <a:ext cx="1561525" cy="540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 bwMode="auto">
          <a:xfrm>
            <a:off x="8972281" y="4997308"/>
            <a:ext cx="144020" cy="2144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64294" marR="0" indent="-64294" algn="ctr" defTabSz="685800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1" lang="ko-KR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JBold" pitchFamily="18" charset="-127"/>
              <a:ea typeface="J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576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37">
            <a:extLst>
              <a:ext uri="{FF2B5EF4-FFF2-40B4-BE49-F238E27FC236}">
                <a16:creationId xmlns:a16="http://schemas.microsoft.com/office/drawing/2014/main" id="{E2DD5CEF-B8A5-4E74-8A8A-822FD1F0B12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318011" y="411956"/>
            <a:ext cx="85080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lnSpc>
                <a:spcPct val="110000"/>
              </a:lnSpc>
              <a:buFontTx/>
              <a:buChar char="•"/>
              <a:defRPr/>
            </a:pPr>
            <a:endParaRPr lang="ko-KR" altLang="en-US" sz="67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3200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5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62696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5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227" y="100035"/>
            <a:ext cx="762476" cy="263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151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5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227" y="100035"/>
            <a:ext cx="762476" cy="263677"/>
          </a:xfrm>
          <a:prstGeom prst="rect">
            <a:avLst/>
          </a:prstGeom>
        </p:spPr>
      </p:pic>
      <p:sp>
        <p:nvSpPr>
          <p:cNvPr id="4" name="직사각형 3"/>
          <p:cNvSpPr/>
          <p:nvPr userDrawn="1"/>
        </p:nvSpPr>
        <p:spPr bwMode="auto">
          <a:xfrm>
            <a:off x="8972281" y="4997308"/>
            <a:ext cx="144020" cy="2144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64294" marR="0" indent="-64294" algn="ctr" defTabSz="685800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1" lang="ko-KR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JBold" pitchFamily="18" charset="-127"/>
              <a:ea typeface="J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5287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50640" y="1383508"/>
            <a:ext cx="3837843" cy="3209925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1" y="1383508"/>
            <a:ext cx="3837843" cy="3209925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0DE9A9-E4DD-4069-85FA-F9D469476FC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360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067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82" indent="0">
              <a:buNone/>
              <a:defRPr sz="1125" b="1"/>
            </a:lvl2pPr>
            <a:lvl3pPr marL="514363" indent="0">
              <a:buNone/>
              <a:defRPr sz="1013" b="1"/>
            </a:lvl3pPr>
            <a:lvl4pPr marL="771545" indent="0">
              <a:buNone/>
              <a:defRPr sz="900" b="1"/>
            </a:lvl4pPr>
            <a:lvl5pPr marL="1028726" indent="0">
              <a:buNone/>
              <a:defRPr sz="900" b="1"/>
            </a:lvl5pPr>
            <a:lvl6pPr marL="1285907" indent="0">
              <a:buNone/>
              <a:defRPr sz="900" b="1"/>
            </a:lvl6pPr>
            <a:lvl7pPr marL="1543089" indent="0">
              <a:buNone/>
              <a:defRPr sz="900" b="1"/>
            </a:lvl7pPr>
            <a:lvl8pPr marL="1800270" indent="0">
              <a:buNone/>
              <a:defRPr sz="900" b="1"/>
            </a:lvl8pPr>
            <a:lvl9pPr marL="2057451" indent="0">
              <a:buNone/>
              <a:defRPr sz="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067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93" y="1151335"/>
            <a:ext cx="4041531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82" indent="0">
              <a:buNone/>
              <a:defRPr sz="1125" b="1"/>
            </a:lvl2pPr>
            <a:lvl3pPr marL="514363" indent="0">
              <a:buNone/>
              <a:defRPr sz="1013" b="1"/>
            </a:lvl3pPr>
            <a:lvl4pPr marL="771545" indent="0">
              <a:buNone/>
              <a:defRPr sz="900" b="1"/>
            </a:lvl4pPr>
            <a:lvl5pPr marL="1028726" indent="0">
              <a:buNone/>
              <a:defRPr sz="900" b="1"/>
            </a:lvl5pPr>
            <a:lvl6pPr marL="1285907" indent="0">
              <a:buNone/>
              <a:defRPr sz="900" b="1"/>
            </a:lvl6pPr>
            <a:lvl7pPr marL="1543089" indent="0">
              <a:buNone/>
              <a:defRPr sz="900" b="1"/>
            </a:lvl7pPr>
            <a:lvl8pPr marL="1800270" indent="0">
              <a:buNone/>
              <a:defRPr sz="900" b="1"/>
            </a:lvl8pPr>
            <a:lvl9pPr marL="2057451" indent="0">
              <a:buNone/>
              <a:defRPr sz="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93" y="1631156"/>
            <a:ext cx="4041531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BE5218-EF21-468B-8C7C-A4DF7A88BA45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983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A3B0147-E59D-457D-9A4B-EB1F4EC31124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1949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435" cy="871538"/>
          </a:xfrm>
        </p:spPr>
        <p:txBody>
          <a:bodyPr anchor="b"/>
          <a:lstStyle>
            <a:lvl1pPr algn="l">
              <a:defRPr sz="112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42" y="204797"/>
            <a:ext cx="5111263" cy="438983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076328"/>
            <a:ext cx="3008435" cy="3518297"/>
          </a:xfrm>
        </p:spPr>
        <p:txBody>
          <a:bodyPr/>
          <a:lstStyle>
            <a:lvl1pPr marL="0" indent="0">
              <a:buNone/>
              <a:defRPr sz="788"/>
            </a:lvl1pPr>
            <a:lvl2pPr marL="257182" indent="0">
              <a:buNone/>
              <a:defRPr sz="675"/>
            </a:lvl2pPr>
            <a:lvl3pPr marL="514363" indent="0">
              <a:buNone/>
              <a:defRPr sz="563"/>
            </a:lvl3pPr>
            <a:lvl4pPr marL="771545" indent="0">
              <a:buNone/>
              <a:defRPr sz="506"/>
            </a:lvl4pPr>
            <a:lvl5pPr marL="1028726" indent="0">
              <a:buNone/>
              <a:defRPr sz="506"/>
            </a:lvl5pPr>
            <a:lvl6pPr marL="1285907" indent="0">
              <a:buNone/>
              <a:defRPr sz="506"/>
            </a:lvl6pPr>
            <a:lvl7pPr marL="1543089" indent="0">
              <a:buNone/>
              <a:defRPr sz="506"/>
            </a:lvl7pPr>
            <a:lvl8pPr marL="1800270" indent="0">
              <a:buNone/>
              <a:defRPr sz="506"/>
            </a:lvl8pPr>
            <a:lvl9pPr marL="2057451" indent="0">
              <a:buNone/>
              <a:defRPr sz="50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758533-04BF-4F04-BEEA-830D08C4617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7938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7" y="3600450"/>
            <a:ext cx="5486400" cy="425054"/>
          </a:xfrm>
        </p:spPr>
        <p:txBody>
          <a:bodyPr anchor="b"/>
          <a:lstStyle>
            <a:lvl1pPr algn="l">
              <a:defRPr sz="112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7" y="459581"/>
            <a:ext cx="5486400" cy="3086100"/>
          </a:xfrm>
        </p:spPr>
        <p:txBody>
          <a:bodyPr/>
          <a:lstStyle>
            <a:lvl1pPr marL="0" indent="0">
              <a:buNone/>
              <a:defRPr sz="1800"/>
            </a:lvl1pPr>
            <a:lvl2pPr marL="257182" indent="0">
              <a:buNone/>
              <a:defRPr sz="1575"/>
            </a:lvl2pPr>
            <a:lvl3pPr marL="514363" indent="0">
              <a:buNone/>
              <a:defRPr sz="1350"/>
            </a:lvl3pPr>
            <a:lvl4pPr marL="771545" indent="0">
              <a:buNone/>
              <a:defRPr sz="1125"/>
            </a:lvl4pPr>
            <a:lvl5pPr marL="1028726" indent="0">
              <a:buNone/>
              <a:defRPr sz="1125"/>
            </a:lvl5pPr>
            <a:lvl6pPr marL="1285907" indent="0">
              <a:buNone/>
              <a:defRPr sz="1125"/>
            </a:lvl6pPr>
            <a:lvl7pPr marL="1543089" indent="0">
              <a:buNone/>
              <a:defRPr sz="1125"/>
            </a:lvl7pPr>
            <a:lvl8pPr marL="1800270" indent="0">
              <a:buNone/>
              <a:defRPr sz="1125"/>
            </a:lvl8pPr>
            <a:lvl9pPr marL="2057451" indent="0">
              <a:buNone/>
              <a:defRPr sz="1125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7" y="4025505"/>
            <a:ext cx="5486400" cy="603647"/>
          </a:xfrm>
        </p:spPr>
        <p:txBody>
          <a:bodyPr/>
          <a:lstStyle>
            <a:lvl1pPr marL="0" indent="0">
              <a:buNone/>
              <a:defRPr sz="788"/>
            </a:lvl1pPr>
            <a:lvl2pPr marL="257182" indent="0">
              <a:buNone/>
              <a:defRPr sz="675"/>
            </a:lvl2pPr>
            <a:lvl3pPr marL="514363" indent="0">
              <a:buNone/>
              <a:defRPr sz="563"/>
            </a:lvl3pPr>
            <a:lvl4pPr marL="771545" indent="0">
              <a:buNone/>
              <a:defRPr sz="506"/>
            </a:lvl4pPr>
            <a:lvl5pPr marL="1028726" indent="0">
              <a:buNone/>
              <a:defRPr sz="506"/>
            </a:lvl5pPr>
            <a:lvl6pPr marL="1285907" indent="0">
              <a:buNone/>
              <a:defRPr sz="506"/>
            </a:lvl6pPr>
            <a:lvl7pPr marL="1543089" indent="0">
              <a:buNone/>
              <a:defRPr sz="506"/>
            </a:lvl7pPr>
            <a:lvl8pPr marL="1800270" indent="0">
              <a:buNone/>
              <a:defRPr sz="506"/>
            </a:lvl8pPr>
            <a:lvl9pPr marL="2057451" indent="0">
              <a:buNone/>
              <a:defRPr sz="50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7B6B3B-A61F-42C3-AD08-58EFA8171B5F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790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A37DEA-567D-4CB6-B82E-FEE9D8221B22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4476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1_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18015" y="465539"/>
            <a:ext cx="8508023" cy="4738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650633" y="1383508"/>
            <a:ext cx="7816363" cy="320992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5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F9B0C0-C9D7-4117-8F31-24DB83030613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Line 37"/>
          <p:cNvSpPr>
            <a:spLocks noChangeShapeType="1"/>
          </p:cNvSpPr>
          <p:nvPr userDrawn="1"/>
        </p:nvSpPr>
        <p:spPr bwMode="auto">
          <a:xfrm>
            <a:off x="319345" y="41195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33354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3505200" y="4949428"/>
            <a:ext cx="2133600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DF97FD-AC21-4525-B2EC-084D013B705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8" name="Line 37"/>
          <p:cNvSpPr>
            <a:spLocks noChangeShapeType="1"/>
          </p:cNvSpPr>
          <p:nvPr userDrawn="1"/>
        </p:nvSpPr>
        <p:spPr bwMode="auto">
          <a:xfrm>
            <a:off x="319345" y="41195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766722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6"/>
          <p:cNvGrpSpPr>
            <a:grpSpLocks/>
          </p:cNvGrpSpPr>
          <p:nvPr userDrawn="1"/>
        </p:nvGrpSpPr>
        <p:grpSpPr bwMode="auto">
          <a:xfrm>
            <a:off x="7097115" y="400467"/>
            <a:ext cx="1728788" cy="207962"/>
            <a:chOff x="4865" y="303"/>
            <a:chExt cx="1089" cy="131"/>
          </a:xfrm>
        </p:grpSpPr>
        <p:sp>
          <p:nvSpPr>
            <p:cNvPr id="5" name="Text Box 6"/>
            <p:cNvSpPr txBox="1">
              <a:spLocks noChangeArrowheads="1"/>
            </p:cNvSpPr>
            <p:nvPr/>
          </p:nvSpPr>
          <p:spPr bwMode="auto">
            <a:xfrm>
              <a:off x="5066" y="305"/>
              <a:ext cx="714" cy="129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 anchor="ctr">
              <a:spAutoFit/>
            </a:bodyPr>
            <a:lstStyle/>
            <a:p>
              <a:pPr algn="ctr" eaLnBrk="0" fontAlgn="ctr" latinLnBrk="0" hangingPunct="0">
                <a:spcBef>
                  <a:spcPct val="50000"/>
                </a:spcBef>
                <a:buFont typeface="Arial" charset="0"/>
                <a:buNone/>
                <a:defRPr/>
              </a:pPr>
              <a:r>
                <a:rPr lang="en-US" altLang="ko-KR" sz="750" i="1" dirty="0">
                  <a:solidFill>
                    <a:srgbClr val="000000"/>
                  </a:solidFill>
                  <a:latin typeface="ITC Avant Garde Gothic" pitchFamily="34" charset="0"/>
                  <a:ea typeface="가는각진제목체" pitchFamily="18" charset="-127"/>
                </a:rPr>
                <a:t>STRICTLY CONFIDENTIAL</a:t>
              </a:r>
            </a:p>
          </p:txBody>
        </p:sp>
        <p:sp>
          <p:nvSpPr>
            <p:cNvPr id="6" name="Line 14"/>
            <p:cNvSpPr>
              <a:spLocks noChangeShapeType="1"/>
            </p:cNvSpPr>
            <p:nvPr userDrawn="1"/>
          </p:nvSpPr>
          <p:spPr bwMode="auto">
            <a:xfrm>
              <a:off x="4865" y="303"/>
              <a:ext cx="108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lnSpc>
                  <a:spcPct val="110000"/>
                </a:lnSpc>
                <a:buFontTx/>
                <a:buChar char="•"/>
                <a:defRPr/>
              </a:pPr>
              <a:endParaRPr lang="ko-KR" altLang="en-US" sz="1350">
                <a:solidFill>
                  <a:srgbClr val="000000"/>
                </a:solidFill>
              </a:endParaRPr>
            </a:p>
          </p:txBody>
        </p:sp>
        <p:sp>
          <p:nvSpPr>
            <p:cNvPr id="7" name="Line 15"/>
            <p:cNvSpPr>
              <a:spLocks noChangeShapeType="1"/>
            </p:cNvSpPr>
            <p:nvPr userDrawn="1"/>
          </p:nvSpPr>
          <p:spPr bwMode="auto">
            <a:xfrm>
              <a:off x="4865" y="432"/>
              <a:ext cx="108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lnSpc>
                  <a:spcPct val="110000"/>
                </a:lnSpc>
                <a:buFontTx/>
                <a:buChar char="•"/>
                <a:defRPr/>
              </a:pPr>
              <a:endParaRPr lang="ko-KR" altLang="en-US" sz="1350">
                <a:solidFill>
                  <a:srgbClr val="000000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240" y="3832000"/>
            <a:ext cx="1561525" cy="540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 bwMode="auto">
          <a:xfrm>
            <a:off x="8972282" y="4997309"/>
            <a:ext cx="144020" cy="2144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64292" marR="0" indent="-64292" algn="ctr" defTabSz="685784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1" lang="ko-KR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JBold" pitchFamily="18" charset="-127"/>
              <a:ea typeface="J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3002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37">
            <a:extLst>
              <a:ext uri="{FF2B5EF4-FFF2-40B4-BE49-F238E27FC236}">
                <a16:creationId xmlns:a16="http://schemas.microsoft.com/office/drawing/2014/main" id="{E2DD5CEF-B8A5-4E74-8A8A-822FD1F0B12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318013" y="411956"/>
            <a:ext cx="85080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lnSpc>
                <a:spcPct val="110000"/>
              </a:lnSpc>
              <a:buFontTx/>
              <a:buChar char="•"/>
              <a:defRPr/>
            </a:pPr>
            <a:endParaRPr lang="ko-KR" altLang="en-US" sz="67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62912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6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2204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6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229" y="100036"/>
            <a:ext cx="762476" cy="263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62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37"/>
          <p:cNvSpPr>
            <a:spLocks noChangeShapeType="1"/>
          </p:cNvSpPr>
          <p:nvPr userDrawn="1"/>
        </p:nvSpPr>
        <p:spPr bwMode="auto">
          <a:xfrm>
            <a:off x="319346" y="37623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229" y="100036"/>
            <a:ext cx="762476" cy="263677"/>
          </a:xfrm>
          <a:prstGeom prst="rect">
            <a:avLst/>
          </a:prstGeom>
        </p:spPr>
      </p:pic>
      <p:sp>
        <p:nvSpPr>
          <p:cNvPr id="4" name="직사각형 3"/>
          <p:cNvSpPr/>
          <p:nvPr userDrawn="1"/>
        </p:nvSpPr>
        <p:spPr bwMode="auto">
          <a:xfrm>
            <a:off x="8972282" y="4997309"/>
            <a:ext cx="144020" cy="2144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64292" marR="0" indent="-64292" algn="ctr" defTabSz="685784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1" lang="ko-KR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JBold" pitchFamily="18" charset="-127"/>
              <a:ea typeface="J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03372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50640" y="1383508"/>
            <a:ext cx="3837843" cy="3209925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1" y="1383508"/>
            <a:ext cx="3837843" cy="3209925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0DE9A9-E4DD-4069-85FA-F9D469476FC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72309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151335"/>
            <a:ext cx="4040067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6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1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1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399" indent="0">
              <a:buNone/>
              <a:defRPr sz="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1631156"/>
            <a:ext cx="4040067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93" y="1151335"/>
            <a:ext cx="4041531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6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1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1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399" indent="0">
              <a:buNone/>
              <a:defRPr sz="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93" y="1631156"/>
            <a:ext cx="4041531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BE5218-EF21-468B-8C7C-A4DF7A88BA45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85706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2345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435" cy="871538"/>
          </a:xfrm>
        </p:spPr>
        <p:txBody>
          <a:bodyPr anchor="b"/>
          <a:lstStyle>
            <a:lvl1pPr algn="l">
              <a:defRPr sz="112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43" y="204798"/>
            <a:ext cx="5111263" cy="438983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8"/>
            <a:ext cx="3008435" cy="3518297"/>
          </a:xfrm>
        </p:spPr>
        <p:txBody>
          <a:bodyPr/>
          <a:lstStyle>
            <a:lvl1pPr marL="0" indent="0">
              <a:buNone/>
              <a:defRPr sz="788"/>
            </a:lvl1pPr>
            <a:lvl2pPr marL="257176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1" indent="0">
              <a:buNone/>
              <a:defRPr sz="506"/>
            </a:lvl5pPr>
            <a:lvl6pPr marL="1285875" indent="0">
              <a:buNone/>
              <a:defRPr sz="506"/>
            </a:lvl6pPr>
            <a:lvl7pPr marL="1543051" indent="0">
              <a:buNone/>
              <a:defRPr sz="506"/>
            </a:lvl7pPr>
            <a:lvl8pPr marL="1800225" indent="0">
              <a:buNone/>
              <a:defRPr sz="506"/>
            </a:lvl8pPr>
            <a:lvl9pPr marL="2057399" indent="0">
              <a:buNone/>
              <a:defRPr sz="50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758533-04BF-4F04-BEEA-830D08C4617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06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7" y="3600451"/>
            <a:ext cx="5486400" cy="425054"/>
          </a:xfrm>
        </p:spPr>
        <p:txBody>
          <a:bodyPr anchor="b"/>
          <a:lstStyle>
            <a:lvl1pPr algn="l">
              <a:defRPr sz="112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7" y="459581"/>
            <a:ext cx="5486400" cy="3086100"/>
          </a:xfrm>
        </p:spPr>
        <p:txBody>
          <a:bodyPr/>
          <a:lstStyle>
            <a:lvl1pPr marL="0" indent="0">
              <a:buNone/>
              <a:defRPr sz="1800"/>
            </a:lvl1pPr>
            <a:lvl2pPr marL="257176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1" indent="0">
              <a:buNone/>
              <a:defRPr sz="1125"/>
            </a:lvl5pPr>
            <a:lvl6pPr marL="1285875" indent="0">
              <a:buNone/>
              <a:defRPr sz="1125"/>
            </a:lvl6pPr>
            <a:lvl7pPr marL="1543051" indent="0">
              <a:buNone/>
              <a:defRPr sz="1125"/>
            </a:lvl7pPr>
            <a:lvl8pPr marL="1800225" indent="0">
              <a:buNone/>
              <a:defRPr sz="1125"/>
            </a:lvl8pPr>
            <a:lvl9pPr marL="2057399" indent="0">
              <a:buNone/>
              <a:defRPr sz="1125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7" y="4025506"/>
            <a:ext cx="5486400" cy="603647"/>
          </a:xfrm>
        </p:spPr>
        <p:txBody>
          <a:bodyPr/>
          <a:lstStyle>
            <a:lvl1pPr marL="0" indent="0">
              <a:buNone/>
              <a:defRPr sz="788"/>
            </a:lvl1pPr>
            <a:lvl2pPr marL="257176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1" indent="0">
              <a:buNone/>
              <a:defRPr sz="506"/>
            </a:lvl5pPr>
            <a:lvl6pPr marL="1285875" indent="0">
              <a:buNone/>
              <a:defRPr sz="506"/>
            </a:lvl6pPr>
            <a:lvl7pPr marL="1543051" indent="0">
              <a:buNone/>
              <a:defRPr sz="506"/>
            </a:lvl7pPr>
            <a:lvl8pPr marL="1800225" indent="0">
              <a:buNone/>
              <a:defRPr sz="506"/>
            </a:lvl8pPr>
            <a:lvl9pPr marL="2057399" indent="0">
              <a:buNone/>
              <a:defRPr sz="50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7B6B3B-A61F-42C3-AD08-58EFA8171B5F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1640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A37DEA-567D-4CB6-B82E-FEE9D8221B22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2168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1_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18017" y="465540"/>
            <a:ext cx="8508023" cy="4738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650635" y="1383508"/>
            <a:ext cx="7816363" cy="320992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462627" y="4949428"/>
            <a:ext cx="747416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F9B0C0-C9D7-4117-8F31-24DB83030613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Line 37"/>
          <p:cNvSpPr>
            <a:spLocks noChangeShapeType="1"/>
          </p:cNvSpPr>
          <p:nvPr userDrawn="1"/>
        </p:nvSpPr>
        <p:spPr bwMode="auto">
          <a:xfrm>
            <a:off x="319346" y="41195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763153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3505200" y="4949428"/>
            <a:ext cx="2133600" cy="19407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DF97FD-AC21-4525-B2EC-084D013B7050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8" name="Line 37"/>
          <p:cNvSpPr>
            <a:spLocks noChangeShapeType="1"/>
          </p:cNvSpPr>
          <p:nvPr userDrawn="1"/>
        </p:nvSpPr>
        <p:spPr bwMode="auto">
          <a:xfrm>
            <a:off x="319346" y="411956"/>
            <a:ext cx="85436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Char char="•"/>
              <a:defRPr/>
            </a:pPr>
            <a:endParaRPr kumimoji="0" lang="ko-KR" altLang="en-US" sz="1013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6658664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openxmlformats.org/officeDocument/2006/relationships/image" Target="../media/image3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18011" y="465539"/>
            <a:ext cx="8508023" cy="47386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none" lIns="90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 err="1"/>
              <a:t>경영회의</a:t>
            </a:r>
            <a:r>
              <a:rPr lang="ko-KR" altLang="en-US" dirty="0"/>
              <a:t> 양식</a:t>
            </a:r>
            <a:endParaRPr lang="en-US" altLang="ko-KR" dirty="0"/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0633" y="1383508"/>
            <a:ext cx="7816363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Jbold</a:t>
            </a:r>
          </a:p>
          <a:p>
            <a:pPr lvl="1"/>
            <a:r>
              <a:rPr lang="en-US" altLang="ko-KR"/>
              <a:t>Jbold</a:t>
            </a:r>
          </a:p>
          <a:p>
            <a:pPr lvl="2"/>
            <a:r>
              <a:rPr lang="en-US" altLang="ko-KR"/>
              <a:t>12</a:t>
            </a:r>
            <a:r>
              <a:rPr lang="ko-KR" altLang="en-US"/>
              <a:t>포인트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4926841"/>
            <a:ext cx="2133600" cy="1607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latinLnBrk="0">
              <a:lnSpc>
                <a:spcPct val="100000"/>
              </a:lnSpc>
              <a:buFontTx/>
              <a:buNone/>
              <a:defRPr>
                <a:latin typeface="+mj-lt"/>
              </a:defRPr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38434E-4AAA-419E-88A6-87CFF3482A4C}"/>
              </a:ext>
            </a:extLst>
          </p:cNvPr>
          <p:cNvSpPr/>
          <p:nvPr userDrawn="1"/>
        </p:nvSpPr>
        <p:spPr bwMode="auto">
          <a:xfrm>
            <a:off x="-425345" y="30469"/>
            <a:ext cx="360000" cy="360000"/>
          </a:xfrm>
          <a:prstGeom prst="rect">
            <a:avLst/>
          </a:prstGeom>
          <a:solidFill>
            <a:srgbClr val="52668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R="0" algn="ctr" defTabSz="685800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1" lang="ko-KR" alt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J ONLYONE NEW 본문 OTF Regular" panose="00000500000000000000" pitchFamily="50" charset="-127"/>
              <a:ea typeface="CJ ONLYONE NEW 본문 OTF Regular" panose="000005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5A9922-3264-49C4-99D6-D3E970AA3428}"/>
              </a:ext>
            </a:extLst>
          </p:cNvPr>
          <p:cNvSpPr/>
          <p:nvPr userDrawn="1"/>
        </p:nvSpPr>
        <p:spPr bwMode="auto">
          <a:xfrm>
            <a:off x="-425345" y="454373"/>
            <a:ext cx="360000" cy="360000"/>
          </a:xfrm>
          <a:prstGeom prst="rect">
            <a:avLst/>
          </a:prstGeom>
          <a:solidFill>
            <a:srgbClr val="9DC3E6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R="0" algn="ctr" defTabSz="685800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1" lang="ko-KR" alt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J ONLYONE NEW 본문 OTF Regular" panose="00000500000000000000" pitchFamily="50" charset="-127"/>
              <a:ea typeface="CJ ONLYONE NEW 본문 OTF Regular" panose="000005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8DEF58-4561-4787-8CC7-592031FC933E}"/>
              </a:ext>
            </a:extLst>
          </p:cNvPr>
          <p:cNvSpPr/>
          <p:nvPr userDrawn="1"/>
        </p:nvSpPr>
        <p:spPr bwMode="auto">
          <a:xfrm>
            <a:off x="-425345" y="878277"/>
            <a:ext cx="360000" cy="360000"/>
          </a:xfrm>
          <a:prstGeom prst="rect">
            <a:avLst/>
          </a:prstGeom>
          <a:solidFill>
            <a:srgbClr val="D7E0F2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R="0" algn="ctr" defTabSz="685800" rtl="0" eaLnBrk="1" fontAlgn="base" latinLnBrk="1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1" lang="ko-KR" alt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J ONLYONE NEW 본문 OTF Regular" panose="00000500000000000000" pitchFamily="50" charset="-127"/>
              <a:ea typeface="CJ ONLYONE NEW 본문 OTF Regular" panose="00000500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A90E043-2D51-4159-B3AB-2D9C7FF585E8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417596" y="1724973"/>
            <a:ext cx="357832" cy="35095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D9F7EF4-99A9-4232-820B-2A5993FB02E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-426841" y="2152570"/>
            <a:ext cx="361497" cy="350951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EB51D5A-B50C-4BFC-BA8E-6608AC8FCDC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-426841" y="1288191"/>
            <a:ext cx="361497" cy="37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9" r:id="rId2"/>
    <p:sldLayoutId id="2147483669" r:id="rId3"/>
    <p:sldLayoutId id="2147483681" r:id="rId4"/>
    <p:sldLayoutId id="2147483696" r:id="rId5"/>
    <p:sldLayoutId id="2147483671" r:id="rId6"/>
    <p:sldLayoutId id="2147483672" r:id="rId7"/>
    <p:sldLayoutId id="2147483673" r:id="rId8"/>
    <p:sldLayoutId id="2147483675" r:id="rId9"/>
    <p:sldLayoutId id="2147483676" r:id="rId10"/>
    <p:sldLayoutId id="2147483677" r:id="rId11"/>
    <p:sldLayoutId id="2147483680" r:id="rId12"/>
    <p:sldLayoutId id="2147483736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5pPr>
      <a:lvl6pPr marL="257182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6pPr>
      <a:lvl7pPr marL="514363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7pPr>
      <a:lvl8pPr marL="771545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8pPr>
      <a:lvl9pPr marL="1028726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9pPr>
    </p:titleStyle>
    <p:bodyStyle>
      <a:lvl1pPr marL="99122" indent="-99122" algn="l" rtl="0" eaLnBrk="0" fontAlgn="base" hangingPunct="0">
        <a:spcBef>
          <a:spcPct val="50000"/>
        </a:spcBef>
        <a:spcAft>
          <a:spcPct val="20000"/>
        </a:spcAft>
        <a:buClr>
          <a:schemeClr val="tx1"/>
        </a:buClr>
        <a:buFont typeface="Wingdings" pitchFamily="2" charset="2"/>
        <a:buChar char="§"/>
        <a:defRPr kumimoji="1" sz="788">
          <a:solidFill>
            <a:schemeClr val="tx1"/>
          </a:solidFill>
          <a:latin typeface="+mn-lt"/>
          <a:ea typeface="+mn-ea"/>
          <a:cs typeface="+mn-cs"/>
        </a:defRPr>
      </a:lvl1pPr>
      <a:lvl2pPr marL="200030" indent="-100015" algn="l" rtl="0" eaLnBrk="0" fontAlgn="base" hangingPunct="0">
        <a:spcBef>
          <a:spcPct val="20000"/>
        </a:spcBef>
        <a:spcAft>
          <a:spcPct val="20000"/>
        </a:spcAft>
        <a:buClr>
          <a:schemeClr val="tx1"/>
        </a:buClr>
        <a:buFont typeface="ITC Avant Garde Gothic" pitchFamily="34" charset="0"/>
        <a:buChar char="–"/>
        <a:defRPr kumimoji="1" sz="731">
          <a:solidFill>
            <a:schemeClr val="tx1"/>
          </a:solidFill>
          <a:latin typeface="+mn-lt"/>
          <a:ea typeface="+mn-ea"/>
        </a:defRPr>
      </a:lvl2pPr>
      <a:lvl3pPr marL="300938" indent="-10001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675">
          <a:solidFill>
            <a:schemeClr val="tx1"/>
          </a:solidFill>
          <a:latin typeface="+mn-lt"/>
          <a:ea typeface="+mn-ea"/>
        </a:defRPr>
      </a:lvl3pPr>
      <a:lvl4pPr marL="900135" indent="-128591" algn="l" rtl="0" eaLnBrk="0" fontAlgn="base" latinLnBrk="1" hangingPunct="0">
        <a:spcBef>
          <a:spcPct val="20000"/>
        </a:spcBef>
        <a:spcAft>
          <a:spcPct val="0"/>
        </a:spcAft>
        <a:buClr>
          <a:schemeClr val="tx1"/>
        </a:buClr>
        <a:buChar char="–"/>
        <a:defRPr kumimoji="1" sz="900">
          <a:solidFill>
            <a:schemeClr val="tx1"/>
          </a:solidFill>
          <a:latin typeface="굴림" charset="-127"/>
          <a:ea typeface="굴림" charset="-127"/>
        </a:defRPr>
      </a:lvl4pPr>
      <a:lvl5pPr marL="1157317" indent="-128591" algn="l" rtl="0" eaLnBrk="0" fontAlgn="base" latinLnBrk="1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5pPr>
      <a:lvl6pPr marL="1414498" indent="-128591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6pPr>
      <a:lvl7pPr marL="1671680" indent="-128591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7pPr>
      <a:lvl8pPr marL="1928861" indent="-128591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8pPr>
      <a:lvl9pPr marL="2186042" indent="-128591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9pPr>
    </p:bodyStyle>
    <p:otherStyle>
      <a:defPPr>
        <a:defRPr lang="ko-KR"/>
      </a:defPPr>
      <a:lvl1pPr marL="0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82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63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45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26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907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89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70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51" algn="l" defTabSz="514363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18013" y="465540"/>
            <a:ext cx="8508023" cy="47386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none" lIns="90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 err="1"/>
              <a:t>경영회의</a:t>
            </a:r>
            <a:r>
              <a:rPr lang="ko-KR" altLang="en-US" dirty="0"/>
              <a:t> 양식</a:t>
            </a:r>
            <a:endParaRPr lang="en-US" altLang="ko-KR" dirty="0"/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0635" y="1383508"/>
            <a:ext cx="7816363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Jbold</a:t>
            </a:r>
          </a:p>
          <a:p>
            <a:pPr lvl="1"/>
            <a:r>
              <a:rPr lang="en-US" altLang="ko-KR"/>
              <a:t>Jbold</a:t>
            </a:r>
          </a:p>
          <a:p>
            <a:pPr lvl="2"/>
            <a:r>
              <a:rPr lang="en-US" altLang="ko-KR"/>
              <a:t>12</a:t>
            </a:r>
            <a:r>
              <a:rPr lang="ko-KR" altLang="en-US"/>
              <a:t>포인트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4926842"/>
            <a:ext cx="2133600" cy="1607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latinLnBrk="0">
              <a:lnSpc>
                <a:spcPct val="100000"/>
              </a:lnSpc>
              <a:buFontTx/>
              <a:buNone/>
              <a:defRPr>
                <a:latin typeface="+mj-lt"/>
              </a:defRPr>
            </a:lvl1pPr>
          </a:lstStyle>
          <a:p>
            <a:pPr>
              <a:defRPr/>
            </a:pPr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7136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5pPr>
      <a:lvl6pPr marL="257176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6pPr>
      <a:lvl7pPr marL="514350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7pPr>
      <a:lvl8pPr marL="771525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8pPr>
      <a:lvl9pPr marL="1028701" algn="l" rtl="0" fontAlgn="base">
        <a:spcBef>
          <a:spcPct val="0"/>
        </a:spcBef>
        <a:spcAft>
          <a:spcPct val="0"/>
        </a:spcAft>
        <a:defRPr kumimoji="1">
          <a:solidFill>
            <a:schemeClr val="tx1"/>
          </a:solidFill>
          <a:latin typeface="Tahoma" pitchFamily="34" charset="0"/>
          <a:ea typeface="JBold" pitchFamily="18" charset="-127"/>
        </a:defRPr>
      </a:lvl9pPr>
    </p:titleStyle>
    <p:bodyStyle>
      <a:lvl1pPr marL="99120" indent="-99120" algn="l" rtl="0" eaLnBrk="0" fontAlgn="base" hangingPunct="0">
        <a:spcBef>
          <a:spcPct val="50000"/>
        </a:spcBef>
        <a:spcAft>
          <a:spcPct val="20000"/>
        </a:spcAft>
        <a:buClr>
          <a:schemeClr val="tx1"/>
        </a:buClr>
        <a:buFont typeface="Wingdings" pitchFamily="2" charset="2"/>
        <a:buChar char="§"/>
        <a:defRPr kumimoji="1" sz="788">
          <a:solidFill>
            <a:schemeClr val="tx1"/>
          </a:solidFill>
          <a:latin typeface="+mn-lt"/>
          <a:ea typeface="+mn-ea"/>
          <a:cs typeface="+mn-cs"/>
        </a:defRPr>
      </a:lvl1pPr>
      <a:lvl2pPr marL="200025" indent="-100013" algn="l" rtl="0" eaLnBrk="0" fontAlgn="base" hangingPunct="0">
        <a:spcBef>
          <a:spcPct val="20000"/>
        </a:spcBef>
        <a:spcAft>
          <a:spcPct val="20000"/>
        </a:spcAft>
        <a:buClr>
          <a:schemeClr val="tx1"/>
        </a:buClr>
        <a:buFont typeface="ITC Avant Garde Gothic" pitchFamily="34" charset="0"/>
        <a:buChar char="–"/>
        <a:defRPr kumimoji="1" sz="731">
          <a:solidFill>
            <a:schemeClr val="tx1"/>
          </a:solidFill>
          <a:latin typeface="+mn-lt"/>
          <a:ea typeface="+mn-ea"/>
        </a:defRPr>
      </a:lvl2pPr>
      <a:lvl3pPr marL="300931" indent="-1000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675">
          <a:solidFill>
            <a:schemeClr val="tx1"/>
          </a:solidFill>
          <a:latin typeface="+mn-lt"/>
          <a:ea typeface="+mn-ea"/>
        </a:defRPr>
      </a:lvl3pPr>
      <a:lvl4pPr marL="900113" indent="-128588" algn="l" rtl="0" eaLnBrk="0" fontAlgn="base" latinLnBrk="1" hangingPunct="0">
        <a:spcBef>
          <a:spcPct val="20000"/>
        </a:spcBef>
        <a:spcAft>
          <a:spcPct val="0"/>
        </a:spcAft>
        <a:buClr>
          <a:schemeClr val="tx1"/>
        </a:buClr>
        <a:buChar char="–"/>
        <a:defRPr kumimoji="1" sz="900">
          <a:solidFill>
            <a:schemeClr val="tx1"/>
          </a:solidFill>
          <a:latin typeface="굴림" charset="-127"/>
          <a:ea typeface="굴림" charset="-127"/>
        </a:defRPr>
      </a:lvl4pPr>
      <a:lvl5pPr marL="1157288" indent="-128588" algn="l" rtl="0" eaLnBrk="0" fontAlgn="base" latinLnBrk="1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5pPr>
      <a:lvl6pPr marL="1414463" indent="-128588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6pPr>
      <a:lvl7pPr marL="1671638" indent="-128588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7pPr>
      <a:lvl8pPr marL="1928813" indent="-128588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8pPr>
      <a:lvl9pPr marL="2185988" indent="-128588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»"/>
        <a:defRPr kumimoji="1" sz="788">
          <a:solidFill>
            <a:schemeClr val="tx1"/>
          </a:solidFill>
          <a:latin typeface="굴림" charset="-127"/>
          <a:ea typeface="굴림" charset="-127"/>
        </a:defRPr>
      </a:lvl9pPr>
    </p:bodyStyle>
    <p:otherStyle>
      <a:defPPr>
        <a:defRPr lang="ko-KR"/>
      </a:defPPr>
      <a:lvl1pPr marL="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6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1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1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99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9FF173-3519-4C57-BD85-9746420FBE3E}"/>
              </a:ext>
            </a:extLst>
          </p:cNvPr>
          <p:cNvSpPr txBox="1"/>
          <p:nvPr/>
        </p:nvSpPr>
        <p:spPr>
          <a:xfrm>
            <a:off x="0" y="2211700"/>
            <a:ext cx="9144000" cy="504000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올리브영 상품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브랜드 입점 제안서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7FB61C-6189-4220-AC6C-46CAC0087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890" y="4227980"/>
            <a:ext cx="1440200" cy="246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78892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864"/>
                </a:solidFill>
                <a:latin typeface="맑은 고딕"/>
              </a:rPr>
              <a:t>SLOBODA · 슬로보다 No.7 리커버리 크림 — 임상 비자극(자극지수 0.00) 병풀잎수 데일리 장벽 크림</a:t>
            </a:r>
          </a:p>
        </p:txBody>
      </p:sp>
    </p:spTree>
    <p:extLst>
      <p:ext uri="{BB962C8B-B14F-4D97-AF65-F5344CB8AC3E}">
        <p14:creationId xmlns:p14="http://schemas.microsoft.com/office/powerpoint/2010/main" val="1990997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66D25FB3-44BE-436D-B781-F161DDBAC72B}"/>
              </a:ext>
            </a:extLst>
          </p:cNvPr>
          <p:cNvSpPr/>
          <p:nvPr/>
        </p:nvSpPr>
        <p:spPr bwMode="auto">
          <a:xfrm>
            <a:off x="316150" y="555473"/>
            <a:ext cx="8723069" cy="4525223"/>
          </a:xfrm>
          <a:prstGeom prst="rect">
            <a:avLst/>
          </a:prstGeom>
          <a:pattFill prst="pct20">
            <a:fgClr>
              <a:schemeClr val="bg2">
                <a:lumMod val="20000"/>
                <a:lumOff val="80000"/>
              </a:schemeClr>
            </a:fgClr>
            <a:bgClr>
              <a:schemeClr val="bg1"/>
            </a:bgClr>
          </a:pattFill>
          <a:ln w="6350">
            <a:solidFill>
              <a:srgbClr val="66B826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J ONLYONE NEW 본문 Regular" panose="00000500000000000000" pitchFamily="2" charset="-127"/>
              <a:ea typeface="CJ ONLYONE NEW 본문 Regular" panose="00000500000000000000" pitchFamily="2" charset="-127"/>
              <a:cs typeface="+mn-cs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233E6D-B7A2-4C9B-9D36-920306F1EF69}"/>
              </a:ext>
            </a:extLst>
          </p:cNvPr>
          <p:cNvCxnSpPr>
            <a:cxnSpLocks/>
          </p:cNvCxnSpPr>
          <p:nvPr/>
        </p:nvCxnSpPr>
        <p:spPr bwMode="auto">
          <a:xfrm>
            <a:off x="331030" y="404970"/>
            <a:ext cx="8417550" cy="0"/>
          </a:xfrm>
          <a:prstGeom prst="line">
            <a:avLst/>
          </a:prstGeom>
          <a:solidFill>
            <a:schemeClr val="accent1"/>
          </a:solidFill>
          <a:ln w="635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575031-4AC2-478D-BCB9-FFE84F7093D5}"/>
              </a:ext>
            </a:extLst>
          </p:cNvPr>
          <p:cNvSpPr txBox="1"/>
          <p:nvPr/>
        </p:nvSpPr>
        <p:spPr>
          <a:xfrm>
            <a:off x="316150" y="561423"/>
            <a:ext cx="2843760" cy="292388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3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제안사 기본 정보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9E74757-B8FB-4C70-B6F4-2AE462912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84187"/>
              </p:ext>
            </p:extLst>
          </p:nvPr>
        </p:nvGraphicFramePr>
        <p:xfrm>
          <a:off x="387939" y="1026004"/>
          <a:ext cx="8143001" cy="3838077"/>
        </p:xfrm>
        <a:graphic>
          <a:graphicData uri="http://schemas.openxmlformats.org/drawingml/2006/table">
            <a:tbl>
              <a:tblPr/>
              <a:tblGrid>
                <a:gridCol w="2083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3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구분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내용</a:t>
                      </a:r>
                    </a:p>
                  </a:txBody>
                  <a:tcPr marL="479" marR="479" marT="479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28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회사명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제이아이에스 주식회사 (JIS Co., Ltd.)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대표: 곽기성 / 소재지: 대구광역시 수성구 달구벌대로 2436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화장품책임판매업 등록번호·사업자등록번호 [기입]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제조(OEM): 허니스트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12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브랜드명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슬로보다 (SLOBODA)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슬로건: "당신의 피부가 가장 자유로워지는 순간 — 단순한 진정이 아닌, 피부에 남는 회복의 힘"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네이밍: 슬라브어 '자유(Sloboda)' — 복잡한 스킨케어 단계로부터의 자유, 크림 하나로 끝내는 데일리 장벽 케어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대표 제품: No.7 리커버리 크림 (히어로 단일 SKU)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92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</a:t>
                      </a:r>
                      <a:r>
                        <a:rPr lang="ko-KR" altLang="en-US" sz="105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상품군</a:t>
                      </a:r>
                      <a:endParaRPr lang="ko-KR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더마코스메틱 / 시카(병풀) 진정·피부장벽 데일리 크림</a:t>
                      </a:r>
                      <a:endParaRPr lang="ko-KR" altLang="en-US" sz="10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소구: 함량 % 경쟁이 아닌 '임상 자극지수 0.00' 안전성 정량화 + 시술 후 홈케어 사용맥락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올리브영 매칭: 스킨케어 &gt; 크림 &gt; 더마·진정(시카) 존 / '시술후케어' 검색 슬롯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7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타겟 고객</a:t>
                      </a:r>
                      <a:endParaRPr lang="en-US" altLang="ko-KR" sz="1050" b="0" i="0" u="none" strike="noStrike" dirty="0">
                        <a:solidFill>
                          <a:srgbClr val="0D0D0D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1차: 미용시술 후 진정·홈케어 수요층 — 병원 클리닉 현장에서 확인된 실수요(제품 개발의 출발점). 시술비 20~30만원 뒤 4.3만원 홈케어는 '저렴한 마무리' = 가격저항 최저 지불층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2차: 민감성 자기인식 소비자 20~40대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3차: 성분·미니멀 루틴 지향 + 인바운드 외국인(K-더마)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600">
                          <a:solidFill>
                            <a:srgbClr val="777777"/>
                          </a:solidFill>
                          <a:latin typeface="맑은 고딕"/>
                        </a:rPr>
                        <a:t>※ 실구매 리뷰에 '레이저 시술 후' 사용 후기 존재 — 타깃 적합성이 소비자 리뷰로 실증됨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239212"/>
                  </a:ext>
                </a:extLst>
              </a:tr>
              <a:tr h="47875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입점 채널</a:t>
                      </a:r>
                      <a:r>
                        <a:rPr lang="en-US" altLang="ko-KR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국내</a:t>
                      </a:r>
                      <a:r>
                        <a:rPr lang="en-US" altLang="ko-KR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병원 클리닉: 시술 후 홈케어로 판매 중 (브랜드가 탄생한 채널, 납품처 확대 협의 중)</a:t>
                      </a:r>
                      <a:endParaRPr lang="ko-KR" altLang="en-US" sz="10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네이버 스마트스토어(공식몰): 43,000원(정가 48,000원) — 리뷰 57건·평점 5.0, 관심고객 373명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쿠팡: 판매 중 / · 에이블리: 판매 중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와디즈: 펀딩 목표 대비 114% 달성 (초기 수요 검증)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판매 채널 지속 확대 진행 중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78755">
                <a:tc>
                  <a:txBody>
                    <a:bodyPr/>
                    <a:lstStyle/>
                    <a:p>
                      <a:pPr marL="0" marR="0" lvl="0" indent="0" algn="ctr" defTabSz="5143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입점 채널</a:t>
                      </a:r>
                      <a:r>
                        <a:rPr lang="en-US" altLang="ko-KR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해외</a:t>
                      </a:r>
                      <a:r>
                        <a:rPr lang="en-US" altLang="ko-KR" sz="1050" b="0" i="0" u="none" strike="noStrike" dirty="0">
                          <a:solidFill>
                            <a:srgbClr val="0D0D0D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현재 해외 공식 입점: 없음 — 해외 진출 준비 중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1단계: 올리브영 글로벌몰(역직구) 연계로 인바운드·해외 수요 검증 희망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확장 논리: 병풀잎수 베이스 + 임상 비자극(0.00)은 K-더마 수출 소구와 정확히 정합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5434131"/>
                  </a:ext>
                </a:extLst>
              </a:tr>
              <a:tr h="433011">
                <a:tc>
                  <a:txBody>
                    <a:bodyPr/>
                    <a:lstStyle/>
                    <a:p>
                      <a:pPr marL="0" marR="0" lvl="0" indent="0" algn="ctr" defTabSz="5143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공식 홈페이지 주소</a:t>
                      </a: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marL="0" algn="l" defTabSz="514350" rtl="0" eaLnBrk="1" fontAlgn="ctr" latinLnBrk="1" hangingPunct="1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공식몰: https://slobodacosmetics.com</a:t>
                      </a:r>
                      <a:endParaRPr lang="ko-KR" altLang="en-US" sz="1050" b="0" i="0" u="none" strike="noStrike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네이버 스마트스토어: https://smartstore.naver.com/main/products/13000817130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와디즈: https://www.wadiz.kr/web/campaign/detail/408720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80121">
                <a:tc>
                  <a:txBody>
                    <a:bodyPr/>
                    <a:lstStyle/>
                    <a:p>
                      <a:pPr marL="0" marR="0" lvl="0" indent="0" algn="ctr" defTabSz="5143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회사 및</a:t>
                      </a: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브랜드</a:t>
                      </a: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5143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주요 연혁</a:t>
                      </a: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특이 사항 등</a:t>
                      </a: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marL="0" marR="0" lvl="0" indent="0" algn="l" defTabSz="5143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병원 클리닉에서 시술 후 피부 고민 상담을 바탕으로 개발 — '시술 직후에도 매일 바를 수 있는 크림'이 목표</a:t>
                      </a:r>
                      <a:endParaRPr lang="en-US" altLang="ko-KR" sz="1050" b="0" i="0" u="none" strike="noStrike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일반·민감성 이중 일차자극 인체적용시험 완료: 두 시험 모두 자극지수 0.00 '비자극성(Excellent)' 판정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  (보고서 No. HM-IR0089-06 일반 / HM-IR0088-68 민감성 · Finn Chamber® 24h 첩포 · 피부과전문의 판정 — 성적서 원문 첨부)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병원 판매 개시 → 와디즈 114% 달성 → 네이버·쿠팡·에이블리 D2C 확장 (No.7 출시일 [기입])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00">
                          <a:solidFill>
                            <a:srgbClr val="212121"/>
                          </a:solidFill>
                          <a:latin typeface="맑은 고딕"/>
                        </a:rPr>
                        <a:t>· 상표 'SLOBODA' 출원/등록번호 [기입]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BB2500-F4AF-4E0E-9798-A8ACCAAD7A79}"/>
              </a:ext>
            </a:extLst>
          </p:cNvPr>
          <p:cNvSpPr txBox="1"/>
          <p:nvPr/>
        </p:nvSpPr>
        <p:spPr>
          <a:xfrm>
            <a:off x="331030" y="62798"/>
            <a:ext cx="64390" cy="307777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400" dirty="0"/>
              <a:t>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5B3EEF-F2B4-4144-B5A1-4C5B2F3FF817}"/>
              </a:ext>
            </a:extLst>
          </p:cNvPr>
          <p:cNvSpPr/>
          <p:nvPr/>
        </p:nvSpPr>
        <p:spPr>
          <a:xfrm>
            <a:off x="372627" y="75503"/>
            <a:ext cx="871734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올리브영 상품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·</a:t>
            </a:r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브랜드 입점 제안 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: </a:t>
            </a:r>
            <a:r>
              <a:rPr lang="ko-KR" altLang="en-US" sz="1400" b="1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기본 정보</a:t>
            </a:r>
          </a:p>
        </p:txBody>
      </p:sp>
    </p:spTree>
    <p:extLst>
      <p:ext uri="{BB962C8B-B14F-4D97-AF65-F5344CB8AC3E}">
        <p14:creationId xmlns:p14="http://schemas.microsoft.com/office/powerpoint/2010/main" val="4241705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2ECD343-BE8D-4C99-B896-1C64A19F518D}"/>
              </a:ext>
            </a:extLst>
          </p:cNvPr>
          <p:cNvSpPr/>
          <p:nvPr/>
        </p:nvSpPr>
        <p:spPr bwMode="auto">
          <a:xfrm>
            <a:off x="316150" y="555473"/>
            <a:ext cx="8723069" cy="4525223"/>
          </a:xfrm>
          <a:prstGeom prst="rect">
            <a:avLst/>
          </a:prstGeom>
          <a:pattFill prst="pct20">
            <a:fgClr>
              <a:schemeClr val="bg2">
                <a:lumMod val="20000"/>
                <a:lumOff val="80000"/>
              </a:schemeClr>
            </a:fgClr>
            <a:bgClr>
              <a:schemeClr val="bg1"/>
            </a:bgClr>
          </a:pattFill>
          <a:ln w="6350">
            <a:solidFill>
              <a:srgbClr val="66B826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J ONLYONE NEW 본문 Regular" panose="00000500000000000000" pitchFamily="2" charset="-127"/>
              <a:ea typeface="CJ ONLYONE NEW 본문 Regular" panose="00000500000000000000" pitchFamily="2" charset="-127"/>
              <a:cs typeface="+mn-cs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233E6D-B7A2-4C9B-9D36-920306F1EF69}"/>
              </a:ext>
            </a:extLst>
          </p:cNvPr>
          <p:cNvCxnSpPr>
            <a:cxnSpLocks/>
          </p:cNvCxnSpPr>
          <p:nvPr/>
        </p:nvCxnSpPr>
        <p:spPr bwMode="auto">
          <a:xfrm>
            <a:off x="331030" y="404970"/>
            <a:ext cx="8417550" cy="0"/>
          </a:xfrm>
          <a:prstGeom prst="line">
            <a:avLst/>
          </a:prstGeom>
          <a:solidFill>
            <a:schemeClr val="accent1"/>
          </a:solidFill>
          <a:ln w="635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2BB2500-F4AF-4E0E-9798-A8ACCAAD7A79}"/>
              </a:ext>
            </a:extLst>
          </p:cNvPr>
          <p:cNvSpPr txBox="1"/>
          <p:nvPr/>
        </p:nvSpPr>
        <p:spPr>
          <a:xfrm>
            <a:off x="331030" y="62798"/>
            <a:ext cx="64390" cy="307777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400" dirty="0"/>
              <a:t>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5B3EEF-F2B4-4144-B5A1-4C5B2F3FF817}"/>
              </a:ext>
            </a:extLst>
          </p:cNvPr>
          <p:cNvSpPr/>
          <p:nvPr/>
        </p:nvSpPr>
        <p:spPr>
          <a:xfrm>
            <a:off x="372627" y="75503"/>
            <a:ext cx="871734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올리브영 상품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·</a:t>
            </a:r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브랜드 입점 제안 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: </a:t>
            </a:r>
            <a:r>
              <a:rPr lang="ko-KR" altLang="en-US" sz="1400" b="1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상품 </a:t>
            </a:r>
            <a:r>
              <a:rPr lang="en-US" altLang="ko-KR" sz="1400" b="1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/ </a:t>
            </a:r>
            <a:r>
              <a:rPr lang="ko-KR" altLang="en-US" sz="1400" b="1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브랜드 </a:t>
            </a:r>
            <a:endParaRPr lang="ko-KR" altLang="en-US" sz="1300" b="1" spc="-150" dirty="0">
              <a:ln>
                <a:solidFill>
                  <a:prstClr val="ltGray">
                    <a:alpha val="0"/>
                  </a:prst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JBold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919607-8162-4A9F-9135-0DBF052DECD1}"/>
              </a:ext>
            </a:extLst>
          </p:cNvPr>
          <p:cNvSpPr txBox="1"/>
          <p:nvPr/>
        </p:nvSpPr>
        <p:spPr>
          <a:xfrm>
            <a:off x="316150" y="555473"/>
            <a:ext cx="2843760" cy="292388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3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제안 상품</a:t>
            </a:r>
            <a:r>
              <a:rPr lang="en-US" altLang="ko-KR" sz="13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3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및 브랜드 소개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AC07595D-11AF-4352-9E8C-979556433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907813"/>
              </p:ext>
            </p:extLst>
          </p:nvPr>
        </p:nvGraphicFramePr>
        <p:xfrm>
          <a:off x="387939" y="1097715"/>
          <a:ext cx="8143001" cy="3852000"/>
        </p:xfrm>
        <a:graphic>
          <a:graphicData uri="http://schemas.openxmlformats.org/drawingml/2006/table">
            <a:tbl>
              <a:tblPr/>
              <a:tblGrid>
                <a:gridCol w="2083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921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구분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내용</a:t>
                      </a:r>
                    </a:p>
                  </a:txBody>
                  <a:tcPr marL="479" marR="479" marT="479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53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브랜드 소개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[한 줄 정의]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"당신의 피부가 가장 자유로워지는 순간" — 크림 하나로 끝내는 미니멀 데일리 장벽 케어 더마 브랜드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[탄생 스토리 — 병원에서 시작된 브랜드]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병원 클리닉의 시술 후 피부 고민 상담에서 출발. 시술 직후의 예민한 피부도 매일 부담 없이 바를 수 있는 크림을 목표로 개발, 현재 병원에서 실제 판매 중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광고로 신뢰를 '사는' 순서의 역방향 — 전문가 채널에서 먼저 검증받고 D2C로 확장하는 구조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[핵심 자산 ① 안전성을 '숫자'로 증명]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일반+민감성 이중 인체적용시험 모두 자극지수 0.00 비자극성(Excellent) — 보고서 No. HM-IR0089-06 / HM-IR0088-68, 피부과전문의 판정 (성적서 원문 첨부)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'순한 편'이라는 정성 표기가 아닌 정량 임상 — 표시광고 심의 안전형 소구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[핵심 자산 ② 병풀잎수 베이스 처방]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병풀잎수 500,000ppm — 함량·처방 '사실'로만 표기 (전성분표·배합 근거 제출 가능)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[소비자 검증 — 작지만 정확한 신호]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평점 5.0 (리뷰 57건, 최근 6개월 5.0) · '촉촉함' 96% · 리뷰 키워드: 자극적이지 않아요/흡수가 잘 돼요/발림성 좋아요/끈적임 없어요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브랜드가 설계한 소구와 소비자 언어가 정확히 일치 — '레이저 시술 후' 실사용 후기 존재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[경쟁 대비 차별점]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4만원대 국산 시카크림은 존재하나, [병풀잎수 베이스 + 이중 임상 0.00 + 시술후 리커버리 + 병원 채널 검증]의 조합은 매대에 없음 → 기존 라인 잠식 없는 '순증'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7243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브랜드 목표 및 전략 방향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[제안 범위 — 저리스크 진입]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1차 목표: 오프라인 전점이 아닌 '올리브영 온라인몰 단독 입점' — 초기 브랜드가 MD 리스크를 낮춰 진입, 데이터로 다음 단계 판단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[단기 0~3개월 — 회전율 증명]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히어로 단일 SKU(No.7 리커버리 크림)로 '임상 비자극 병풀 크림' 인지 각인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현재 리뷰 57건 → 온라인몰 초도 리뷰 100건+ 를 브랜드 비용으로 확보 (데이터 리스크는 브랜드가 부담)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재구매율·평점 실데이터로 회전율 선증명 (재구매율 [기입]%)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[중기 3~6개월 — 오프라인 테스트]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온라인 지표 달성 시 더마·진정존 소수 매장 테스트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초도 2~3 SKU 구성 = 히어로의 용량 변주(본품 50ml + 미니/트래블 + 리필) — 컨셉 훼손 없이 매대 슬롯·객단가 방어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[장기 6개월~ — 확대·글로벌]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실적 근거로 매장 확대 + 올리브영 글로벌몰(역직구)로 해외 진출 연계 — 해외 판매 계획의 첫 관문을 올리브영과 함께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리커버리 라인 확장(앰플·저자극 클렌저 등)은 실적 달성 후 논의 — '크림 하나' 히어로 서사 유지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73054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9269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2ECD343-BE8D-4C99-B896-1C64A19F518D}"/>
              </a:ext>
            </a:extLst>
          </p:cNvPr>
          <p:cNvSpPr/>
          <p:nvPr/>
        </p:nvSpPr>
        <p:spPr bwMode="auto">
          <a:xfrm>
            <a:off x="316150" y="555473"/>
            <a:ext cx="8723069" cy="4525223"/>
          </a:xfrm>
          <a:prstGeom prst="rect">
            <a:avLst/>
          </a:prstGeom>
          <a:pattFill prst="pct20">
            <a:fgClr>
              <a:schemeClr val="bg2">
                <a:lumMod val="20000"/>
                <a:lumOff val="80000"/>
              </a:schemeClr>
            </a:fgClr>
            <a:bgClr>
              <a:schemeClr val="bg1"/>
            </a:bgClr>
          </a:pattFill>
          <a:ln w="6350">
            <a:solidFill>
              <a:srgbClr val="66B826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J ONLYONE NEW 본문 Regular" panose="00000500000000000000" pitchFamily="2" charset="-127"/>
              <a:ea typeface="CJ ONLYONE NEW 본문 Regular" panose="00000500000000000000" pitchFamily="2" charset="-127"/>
              <a:cs typeface="+mn-cs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233E6D-B7A2-4C9B-9D36-920306F1EF69}"/>
              </a:ext>
            </a:extLst>
          </p:cNvPr>
          <p:cNvCxnSpPr>
            <a:cxnSpLocks/>
          </p:cNvCxnSpPr>
          <p:nvPr/>
        </p:nvCxnSpPr>
        <p:spPr bwMode="auto">
          <a:xfrm>
            <a:off x="331030" y="404970"/>
            <a:ext cx="8417550" cy="0"/>
          </a:xfrm>
          <a:prstGeom prst="line">
            <a:avLst/>
          </a:prstGeom>
          <a:solidFill>
            <a:schemeClr val="accent1"/>
          </a:solidFill>
          <a:ln w="635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2BB2500-F4AF-4E0E-9798-A8ACCAAD7A79}"/>
              </a:ext>
            </a:extLst>
          </p:cNvPr>
          <p:cNvSpPr txBox="1"/>
          <p:nvPr/>
        </p:nvSpPr>
        <p:spPr>
          <a:xfrm>
            <a:off x="331030" y="62798"/>
            <a:ext cx="64390" cy="307777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400" dirty="0"/>
              <a:t>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5B3EEF-F2B4-4144-B5A1-4C5B2F3FF817}"/>
              </a:ext>
            </a:extLst>
          </p:cNvPr>
          <p:cNvSpPr/>
          <p:nvPr/>
        </p:nvSpPr>
        <p:spPr>
          <a:xfrm>
            <a:off x="372627" y="75503"/>
            <a:ext cx="871734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올리브영 상품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·</a:t>
            </a:r>
            <a:r>
              <a:rPr lang="ko-KR" altLang="en-US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브랜드 입점 제안 </a:t>
            </a:r>
            <a:r>
              <a:rPr lang="en-US" altLang="ko-KR" sz="1400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: </a:t>
            </a:r>
            <a:r>
              <a:rPr lang="ko-KR" altLang="en-US" sz="1400" b="1" spc="-150" dirty="0">
                <a:ln>
                  <a:solidFill>
                    <a:prstClr val="ltGray">
                      <a:alpha val="0"/>
                    </a:prst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JBold" pitchFamily="18" charset="-127"/>
              </a:rPr>
              <a:t>성과 및 마케팅 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919607-8162-4A9F-9135-0DBF052DECD1}"/>
              </a:ext>
            </a:extLst>
          </p:cNvPr>
          <p:cNvSpPr txBox="1"/>
          <p:nvPr/>
        </p:nvSpPr>
        <p:spPr>
          <a:xfrm>
            <a:off x="316150" y="548718"/>
            <a:ext cx="2843760" cy="292388"/>
          </a:xfrm>
          <a:prstGeom prst="rect">
            <a:avLst/>
          </a:prstGeom>
          <a:solidFill>
            <a:srgbClr val="66B826"/>
          </a:solidFill>
          <a:ln>
            <a:noFill/>
          </a:ln>
        </p:spPr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 sz="1200" b="1" spc="-80">
                <a:ln>
                  <a:solidFill>
                    <a:srgbClr val="BBE0E3">
                      <a:alpha val="0"/>
                    </a:srgbClr>
                  </a:solidFill>
                </a:ln>
                <a:solidFill>
                  <a:schemeClr val="bg1"/>
                </a:solidFill>
                <a:latin typeface="CJ ONLYONE NEW 본문 Regular" panose="00000500000000000000" pitchFamily="2" charset="-127"/>
                <a:ea typeface="CJ ONLYONE NEW 본문 Regular" panose="00000500000000000000" pitchFamily="2" charset="-127"/>
              </a:defRPr>
            </a:lvl1pPr>
          </a:lstStyle>
          <a:p>
            <a:r>
              <a:rPr lang="ko-KR" altLang="en-US" sz="13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성과 및 마케팅 등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AC07595D-11AF-4352-9E8C-979556433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988851"/>
              </p:ext>
            </p:extLst>
          </p:nvPr>
        </p:nvGraphicFramePr>
        <p:xfrm>
          <a:off x="387939" y="1097715"/>
          <a:ext cx="8143001" cy="3707999"/>
        </p:xfrm>
        <a:graphic>
          <a:graphicData uri="http://schemas.openxmlformats.org/drawingml/2006/table">
            <a:tbl>
              <a:tblPr/>
              <a:tblGrid>
                <a:gridCol w="2083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2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구분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내용</a:t>
                      </a:r>
                    </a:p>
                  </a:txBody>
                  <a:tcPr marL="479" marR="479" marT="479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48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8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브랜드 및 상품 주요 성과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[소비자 지표 — 작지만 정확한 품질 신호 (캡처 첨부)]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네이버 스마트스토어: 리뷰 57건 · 평점 5.0/5.0 (최근 6개월 5.0) · '촉촉함' 만족 96% · 관심고객 373명 · Q&amp;A 11건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AI 리뷰 키워드 상위: 자극적이지 않아요 / 흡수가 잘 돼요 / 발림성 좋아요 / 끈적임 없어요 / 피부가 편안해요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'레이저 시술 후 민감해진 피부에 사용' 실구매 후기 — 시술후 리커버리 포지셔닝의 소비자 실증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[채널 성과]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와디즈 캠페인: 펀딩 목표 대비 114% 달성 — 초기 수요 검증, 후속 펀딩 지속 예정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병원 클리닉: 시술 후 홈케어로 판매 중 (개발 출발 채널, 납품처 확대 협의 중)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쿠팡·에이블리 입점 판매 중 — 채널 다각화 진행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[정직 프레이밍]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론칭 초기 브랜드로 절대 판매량은 크지 않으나, 평점 5.0·리뷰 키워드·시술후 실사용 후기로 '전환 잠재력'을 증명 — 인지도가 아닌 품질·적합성으로 평가 요청 (누적 판매수량·재구매율 [기입])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34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마케팅 현황</a:t>
                      </a:r>
                    </a:p>
                  </a:txBody>
                  <a:tcPr marL="479" marR="479" marT="479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lIns="38100" rIns="38100" tIns="38100" bIns="38100" wrap="square"/>
                    <a:lstStyle/>
                    <a:p>
                      <a:pPr algn="l" fontAlgn="ctr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[진행 중]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네이버 스마트스토어 쇼핑검색광고 집행 중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인플루언서 협업·공동구매 추진 중 / 네이버 블로그 체험단·유튜브 숏폼 캠페인 준비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스토어 알림받기 쿠폰 + 선착순 한정 프로모션('리커버리 위크') 운영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/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 b="1">
                          <a:solidFill>
                            <a:srgbClr val="1F3864"/>
                          </a:solidFill>
                          <a:latin typeface="맑은 고딕"/>
                        </a:rPr>
                        <a:t>[메시지 통일 3축 — 심의 안전형]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750">
                          <a:solidFill>
                            <a:srgbClr val="212121"/>
                          </a:solidFill>
                          <a:latin typeface="맑은 고딕"/>
                        </a:rPr>
                        <a:t>· ① 임상 비자극 0.00 (보고서 번호 각주 세트) ② 병풀잎수 베이스 처방 ③ '단계 줄이고 크림 하나로'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100"/>
                        </a:spcAft>
                      </a:pPr>
                      <a:r>
                        <a:rPr sz="650">
                          <a:solidFill>
                            <a:srgbClr val="777777"/>
                          </a:solidFill>
                          <a:latin typeface="맑은 고딕"/>
                        </a:rPr>
                        <a:t>※ '재생·EGF·무자극' 등 확대표현 배제 — 표시광고 가드레일 상시 적용</a:t>
                      </a:r>
                    </a:p>
                  </a:txBody>
                  <a:tcPr marL="479" marR="479" marT="479" marB="0" anchor="t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73054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2145441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txBody>
          <a:bodyPr wrap="none" lIns="76200" tIns="12700" bIns="1270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맑은 고딕"/>
              </a:rPr>
              <a:t>올리브영 상품·브랜드 입점 제안 : 상품 / 브랜드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12121"/>
                </a:solidFill>
                <a:latin typeface="맑은 고딕"/>
              </a:rPr>
              <a:t>주력 상품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4114800"/>
          </a:xfrm>
          <a:prstGeom prst="rect">
            <a:avLst/>
          </a:prstGeom>
          <a:noFill/>
          <a:ln>
            <a:solidFill>
              <a:srgbClr val="BBBBBB"/>
            </a:solidFill>
          </a:ln>
        </p:spPr>
        <p:txBody>
          <a:bodyPr wrap="square" lIns="101600" tIns="63500" rIns="1016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[주력 — 히어로 단일 SKU]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슬로보다 No.7 리커버리 크림 / 50ml / 판매가 43,000원 (정가 48,000원) / 출시일 [기입]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[제형·소구 — 심의 가드레일 적용]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병풀잎수 베이스, 진정·보습·피부장벽 케어 데일리 크림 ('재생·EGF' 확대표현은 소구에서 배제)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무겁지 않은 크림 제형 — 리뷰 키워드로 실증: '끈적임이 없어요' '흡수가 잘 돼요' '발림성 좋아요'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아침 메이크업 전·저녁 마무리 모두 사용 가능한 데일리 설계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[안전성 근거 — 첨부 성적서 2건]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일반 피부 첩포 일차자극 인체적용시험: 자극지수 0.00 비자극성(Excellent) — 보고서 No. HM-IR0089-06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민감성 피부 첩포 일차자극 인체적용시험: 자극지수 0.00 비자극성(Excellent) — 보고서 No. HM-IR0088-68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Finn Chamber® 24시간 첩포 · 패치 제거 후 30분/24시간 피부과전문의 판정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[차별점 — 경쟁 SKU 비교표(부록 A)]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비교 축: 병풀 함량·처방형태 / 일반·민감성 이중 임상 유무 / 용량·ml당 단가 / 시술후 소구 / 병원 채널 검증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슬로보다만 채우는 칸: 이중 임상 0.00 + 병풀잎수 베이스 + 시술후 리커버리 + 병원 판매 이력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[매대 구성]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온라인 진입: 히어로 1 SKU 집중 / 오프라인 확대 시: 본품 + 미니(트래블) + 리필 용량 변주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[가격 정당화]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시술비 20~30만원 → 4.3만원 홈케어 앵커링 / 첫구매 쿠폰·미니 SKU로 진입 문턱 완화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맑은 고딕"/>
              </a:rPr>
              <a:t>[첨부 이미지 4종]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212121"/>
                </a:solidFill>
                <a:latin typeface="맑은 고딕"/>
              </a:rPr>
              <a:t>· ① 제품 단독컷 ② 임상 성적서 그래픽 ③ 병풀잎수 처방 클로즈업 ④ 시술 후 사용 시나리오컷 [이미지 기입]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txBody>
          <a:bodyPr wrap="none" lIns="76200" tIns="12700" bIns="1270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맑은 고딕"/>
              </a:rPr>
              <a:t>올리브영 상품·브랜드 입점 제안 : 성과 및 마케팅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12121"/>
                </a:solidFill>
                <a:latin typeface="맑은 고딕"/>
              </a:rPr>
              <a:t>마케팅 계획  /  올리브영 입점 희망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4114800"/>
          </a:xfrm>
          <a:prstGeom prst="rect">
            <a:avLst/>
          </a:prstGeom>
          <a:noFill/>
          <a:ln>
            <a:solidFill>
              <a:srgbClr val="BBBBBB"/>
            </a:solidFill>
          </a:ln>
        </p:spPr>
        <p:txBody>
          <a:bodyPr wrap="square" lIns="101600" tIns="63500" rIns="1016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[마케팅 계획]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[방향 — 광고 투자 확대 국면]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브랜드는 지금 마케팅 투자를 본격 확대하는 시점: 스마트스토어 광고 증액 + 인플루언서 협업·공동구매 + 체험단·숏폼 (예산 [기입])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3대 메시지(임상 비자극 / 병풀잎수 / 크림 하나)로 통일된 캠페인 운영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[올리브영 연계 — 브랜드가 리스크를 부담]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위 광고·인플루언서 트래픽의 구매 착지점을 올리브영으로 설정 — 브랜드 광고비로 만든 수요가 올리브영 매출로 전환되는 구조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온라인몰 입점 시 초도 리뷰 100건+ 브랜드 비용으로 확보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올리브영 전용 기획전·오늘드림·리뷰 이벤트 연동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CS 전담·반품 대응·패치테스트 권고 문구로 민감피부 클레임 선제 차단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[올리브영 입점 희망 이유 — MD 관점의 이익]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[MD 관점의 이익]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① 브랜드가 만든 트래픽의 '착지 매대': 인플루언서·공구·광고 수요는 소비자가 신뢰하는 매대에서 구매로 완결됨 — 광고비는 브랜드가 쓰고, 전환 매출은 올리브영에 순증. 지금이 광고 투자 확대 직전 시점 = 입점 타이밍이 곧 매출 타이밍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② 매대 '순증'(대체 아님): [병풀잎수 베이스 + 이중 임상 0.00 + 시술후 리커버리 + 병원 검증] 조합은 기존 매대에 없음 (부록 A 비교표)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③ '시술후케어' 슬롯 정확 타격: 검색 수요는 크지만 매대 대응은 얇은 슬롯 — 병원 발(發) 브랜드 스토리가 그대로 소구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④ 리스크는 브랜드 부담: 온라인몰 단독 선입점(저리스크) + 초도 리뷰 100건 브랜드 비용 + 재공급 보증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212121"/>
                </a:solidFill>
                <a:latin typeface="맑은 고딕"/>
              </a:rPr>
              <a:t>· ⑤ 해외 확장 동행: 해외 판매 계획의 첫 관문을 올리브영 글로벌몰과 함께 — 인바운드 K-더마 수요 흡수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txBody>
          <a:bodyPr wrap="none" lIns="76200" tIns="12700" bIns="1270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맑은 고딕"/>
              </a:rPr>
              <a:t>올리브영 상품·브랜드 입점 제안 : 부록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12121"/>
                </a:solidFill>
                <a:latin typeface="맑은 고딕"/>
              </a:rPr>
              <a:t>시장 근거 · 경쟁 SKU 비교표 · 올리브영 온라인 단독 런칭 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4114800"/>
          </a:xfrm>
          <a:prstGeom prst="rect">
            <a:avLst/>
          </a:prstGeom>
          <a:noFill/>
          <a:ln>
            <a:solidFill>
              <a:srgbClr val="BBBBBB"/>
            </a:solidFill>
          </a:ln>
        </p:spPr>
        <p:txBody>
          <a:bodyPr wrap="square" lIns="101600" tIns="63500" rIns="1016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 b="1">
                <a:solidFill>
                  <a:srgbClr val="1F3864"/>
                </a:solidFill>
                <a:latin typeface="맑은 고딕"/>
              </a:rPr>
              <a:t>[1. 시장 근거 — 1차 출처만 인용]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올리브영 내 병풀·시카(센텔라/마데카소사이드) 성분 카테고리는 스킨케어 스테디 상위권 — 자사 성분과 직결된 실판매·검색 데이터 캡처 [기입]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'시술후케어' 검색·수요 슬롯: 미용시술 대중화로 검색은 크지만 매대 대응은 얇음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시장 통계 인용 시 [기관·리포트명·연도] 명기 — 확인 불가 수치는 미기재 원칙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 b="1">
                <a:solidFill>
                  <a:srgbClr val="1F3864"/>
                </a:solidFill>
                <a:latin typeface="맑은 고딕"/>
              </a:rPr>
              <a:t>[2. 경쟁 SKU 비교표 — '이 조합은 없음'을 사실로]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4만원대 국산 시카·장벽 크림 리스트업(닥터지/아누아/토리든/스킨1004 등)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비교 축: 병풀 함량·처방형태 / 일반·민감성 이중 임상 유무 / 용량·ml당 단가 / 시술후 소구 / 병원 채널 검증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슬로보다만 채우는 칸: 이중 임상 자극지수 0.00(보고서 2건) + 병풀잎수 베이스 + 시술후 리커버리 + 병원 판매 이력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 b="1">
                <a:solidFill>
                  <a:srgbClr val="1F3864"/>
                </a:solidFill>
                <a:latin typeface="맑은 고딕"/>
              </a:rPr>
              <a:t>[3. 올리브영 런칭 플랜 — 온라인 단독 선입점(저리스크)]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1단계(0~3개월): 온라인몰 단독 입점 + 기획전 → 초도 리뷰 100건+(브랜드 비용)·재구매율로 회전율 증명 · 광고/인플루언서 트래픽을 올리브영 착지로 연결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2단계(3~6개월): 지표 달성 시 더마·진정존 소수 매장 테스트 (본품+미니+리필)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3단계(6개월~): 매장 확대 + 글로벌몰 역직구로 해외 진출 연계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병행: '즐거운 동행' / 'K-슈퍼루키 위드영' 프로그램 동시 지원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txBody>
          <a:bodyPr wrap="none" lIns="76200" tIns="12700" bIns="1270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맑은 고딕"/>
              </a:rPr>
              <a:t>올리브영 상품·브랜드 입점 제안 : 부록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12121"/>
                </a:solidFill>
                <a:latin typeface="맑은 고딕"/>
              </a:rPr>
              <a:t>공급·품질 준비도 · 마진 검증 · 매출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4114800"/>
          </a:xfrm>
          <a:prstGeom prst="rect">
            <a:avLst/>
          </a:prstGeom>
          <a:noFill/>
          <a:ln>
            <a:solidFill>
              <a:srgbClr val="BBBBBB"/>
            </a:solidFill>
          </a:ln>
        </p:spPr>
        <p:txBody>
          <a:bodyPr wrap="square" lIns="101600" tIns="63500" rIns="1016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 b="1">
                <a:solidFill>
                  <a:srgbClr val="1F3864"/>
                </a:solidFill>
                <a:latin typeface="맑은 고딕"/>
              </a:rPr>
              <a:t>[4. 공급·품질 준비도]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제조 허니스트 — CGMP·ISO22716 [확인·명기] / 월 캐파·MOQ·리드타임 [기입] / 완판 시 재공급 보증·안전재고 [기입]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화장품책임판매업 등록(제이아이에스 주식회사)·PL보험 [기입] / 로트별 CoA·안정성·미생물 성적 제출 가능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인체적용시험 성적서 2건 원문 상시 제출: HM-IR0089-06(일반)·HM-IR0088-68(민감성) — 모두 자극지수 0.00 비자극성(Excellent)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CS 전담·반품 대응·패치테스트 권고 고지 — 민감피부 클레임 선제 차단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 b="1">
                <a:solidFill>
                  <a:srgbClr val="1F3864"/>
                </a:solidFill>
                <a:latin typeface="맑은 고딕"/>
              </a:rPr>
              <a:t>[5. 마진·매출 시나리오]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원가 [기입] 기준 올리브영 수수료·물류 반영 후 영업이익률 [기입]% 사전 검증 / 쿠폰 분담 여력 [기입]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212121"/>
                </a:solidFill>
                <a:latin typeface="맑은 고딕"/>
              </a:rPr>
              <a:t>· 보수 시나리오(변수 실측 후 확정): 월 매출 = 43,000원 × 일판매 q × 매장(슬롯) N × 25일 — N·q·회전일·재구매율 [기입]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Vision &amp; Strategy">
  <a:themeElements>
    <a:clrScheme name="Vision &amp; Strategy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ision &amp; Strategy">
      <a:majorFont>
        <a:latin typeface="Tahoma"/>
        <a:ea typeface="JBold"/>
        <a:cs typeface=""/>
      </a:majorFont>
      <a:minorFont>
        <a:latin typeface="JBold"/>
        <a:ea typeface="J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5"/>
        </a:solidFill>
        <a:ln w="9525" cap="flat" cmpd="sng" algn="ctr">
          <a:noFill/>
          <a:prstDash val="solid"/>
          <a:round/>
          <a:headEnd type="none" w="med" len="med"/>
          <a:tailEnd type="triangle" w="med" len="med"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10000"/>
          </a:lnSpc>
          <a:spcBef>
            <a:spcPct val="0"/>
          </a:spcBef>
          <a:spcAft>
            <a:spcPct val="0"/>
          </a:spcAft>
          <a:buClrTx/>
          <a:buSzTx/>
          <a:buFontTx/>
          <a:buChar char="•"/>
          <a:tabLst/>
          <a:defRPr kumimoji="1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JBold" pitchFamily="18" charset="-127"/>
            <a:ea typeface="JBold" pitchFamily="18" charset="-127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</a:spPr>
      <a:bodyPr/>
      <a:lstStyle/>
    </a:lnDef>
    <a:txDef>
      <a:spPr>
        <a:solidFill>
          <a:schemeClr val="bg1">
            <a:lumMod val="85000"/>
          </a:schemeClr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square" rtlCol="0">
        <a:spAutoFit/>
      </a:bodyPr>
      <a:lstStyle>
        <a:defPPr latinLnBrk="0">
          <a:lnSpc>
            <a:spcPct val="150000"/>
          </a:lnSpc>
          <a:defRPr sz="1600" b="1" dirty="0" smtClean="0">
            <a:latin typeface="가는각진제목체" pitchFamily="18" charset="-127"/>
            <a:ea typeface="가는각진제목체" pitchFamily="18" charset="-127"/>
            <a:cs typeface="Arial" pitchFamily="34" charset="0"/>
          </a:defRPr>
        </a:defPPr>
      </a:lstStyle>
    </a:txDef>
  </a:objectDefaults>
  <a:extraClrSchemeLst>
    <a:extraClrScheme>
      <a:clrScheme name="Vision &amp; Strategy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Vision &amp; Strategy">
  <a:themeElements>
    <a:clrScheme name="Vision &amp; Strategy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ision &amp; Strategy">
      <a:majorFont>
        <a:latin typeface="Tahoma"/>
        <a:ea typeface="JBold"/>
        <a:cs typeface=""/>
      </a:majorFont>
      <a:minorFont>
        <a:latin typeface="JBold"/>
        <a:ea typeface="J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5"/>
        </a:solidFill>
        <a:ln w="9525" cap="flat" cmpd="sng" algn="ctr">
          <a:noFill/>
          <a:prstDash val="solid"/>
          <a:round/>
          <a:headEnd type="none" w="med" len="med"/>
          <a:tailEnd type="triangle" w="med" len="med"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10000"/>
          </a:lnSpc>
          <a:spcBef>
            <a:spcPct val="0"/>
          </a:spcBef>
          <a:spcAft>
            <a:spcPct val="0"/>
          </a:spcAft>
          <a:buClrTx/>
          <a:buSzTx/>
          <a:buFontTx/>
          <a:buChar char="•"/>
          <a:tabLst/>
          <a:defRPr kumimoji="1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JBold" pitchFamily="18" charset="-127"/>
            <a:ea typeface="JBold" pitchFamily="18" charset="-127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</a:spPr>
      <a:bodyPr/>
      <a:lstStyle/>
    </a:lnDef>
    <a:txDef>
      <a:spPr>
        <a:solidFill>
          <a:srgbClr val="66B826"/>
        </a:solidFill>
        <a:ln>
          <a:noFill/>
        </a:ln>
      </a:spPr>
      <a:bodyPr wrap="square" rtlCol="0" anchor="ctr">
        <a:spAutoFit/>
      </a:bodyPr>
      <a:lstStyle>
        <a:defPPr algn="l">
          <a:defRPr sz="1000" dirty="0" smtClean="0"/>
        </a:defPPr>
      </a:lstStyle>
    </a:txDef>
  </a:objectDefaults>
  <a:extraClrSchemeLst>
    <a:extraClrScheme>
      <a:clrScheme name="Vision &amp; Strategy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ision &amp; Strategy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ion &amp; Strategy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MMClips>0</MMClips>
  <HiddenSlides>0</HiddenSlides>
  <LinksUpToDate>false</LinksUpToDate>
  <Notes>1</Notes>
  <Paragraphs>55</Paragraphs>
  <PresentationFormat>화면 슬라이드 쇼(16:9)</PresentationFormat>
  <ScaleCrop>false</ScaleCrop>
  <Slides>4</Slides>
  <SharedDoc>false</SharedDoc>
  <HyperlinksChanged>false</HyperlinksChanged>
  <AppVersion>16.0000</AppVersion>
  <Words>334</Words>
  <TotalTime>0</TotalTime>
  <Application>Microsoft Office PowerPoint</Application>
  <Template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?��???;; ; cj:QFkC/q8Kh5G+E9sOVG8jlnbrtLw=*vdi_sunshine6108</dc:creator>
  <dcterms:modified xsi:type="dcterms:W3CDTF">2026-06-10T04:23:49Z</dcterms:modified>
  <dc:title>슬라이드 0</dc:title>
  <cp:lastPrinted>2026-06-10T04:22:20Z</cp:lastPrinted>
  <cp:lastModifiedBy>박세웅님</cp:lastModifiedBy>
  <dcterms:created xsi:type="dcterms:W3CDTF">2008-08-06T12:45:46Z</dcterms:created>
  <cp:revision>13639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DRClass">
    <vt:lpwstr>0</vt:lpwstr>
  </property>
  <property fmtid="{D5CDD505-2E9C-101B-9397-08002B2CF9AE}" pid="3" name="FDRSet">
    <vt:lpwstr>manual</vt:lpwstr>
  </property>
  <property fmtid="{D5CDD505-2E9C-101B-9397-08002B2CF9AE}" pid="4" name="Fasoo_Trace_ID">
    <vt:lpwstr>eyAibm9kZUNvdW50IjogMTAsICJub2RlMSIgOiB7ImRzZCI6IjAxMDAwMDAwMDAwMDIxMDMiLCJsb2dUaW1lIjoiMjAyNS0wMS0wN1QwMDo0ODoyMVoiLCJwSUQiOjEsInByb2Nlc3NOYW1lIjoiUE9XRVJQTlQuRVhFIiwidHJhY2VJZCI6IjREMjBFMjMxMkQxNDREODhCRjc1NjgwNUNENUUxOEUzIiwidXNlckNvZGUiOiJwdXJpdHVzIn0</vt:lpwstr>
  </property>
  <property fmtid="{D5CDD505-2E9C-101B-9397-08002B2CF9AE}" pid="5" name="NumberOfSlides">
    <vt:lpwstr>31</vt:lpwstr>
  </property>
  <property fmtid="{D5CDD505-2E9C-101B-9397-08002B2CF9AE}" pid="6" name="RevisionCount">
    <vt:lpwstr>21</vt:lpwstr>
  </property>
  <property fmtid="{D5CDD505-2E9C-101B-9397-08002B2CF9AE}" pid="7" name="MSIP_Label_d132b298-d092-4ba9-a1be-2a4de4a74ea4_Enabled">
    <vt:lpwstr>true</vt:lpwstr>
  </property>
  <property fmtid="{D5CDD505-2E9C-101B-9397-08002B2CF9AE}" pid="8" name="MSIP_Label_d132b298-d092-4ba9-a1be-2a4de4a74ea4_SetDate">
    <vt:lpwstr>2026-07-03T01:31:28Z</vt:lpwstr>
  </property>
  <property fmtid="{D5CDD505-2E9C-101B-9397-08002B2CF9AE}" pid="9" name="MSIP_Label_d132b298-d092-4ba9-a1be-2a4de4a74ea4_Method">
    <vt:lpwstr>Privileged</vt:lpwstr>
  </property>
  <property fmtid="{D5CDD505-2E9C-101B-9397-08002B2CF9AE}" pid="10" name="MSIP_Label_d132b298-d092-4ba9-a1be-2a4de4a74ea4_Name">
    <vt:lpwstr>평문화</vt:lpwstr>
  </property>
  <property fmtid="{D5CDD505-2E9C-101B-9397-08002B2CF9AE}" pid="11" name="MSIP_Label_d132b298-d092-4ba9-a1be-2a4de4a74ea4_SiteId">
    <vt:lpwstr>ee6af5c5-684f-4539-9eb6-64793af08027</vt:lpwstr>
  </property>
  <property fmtid="{D5CDD505-2E9C-101B-9397-08002B2CF9AE}" pid="12" name="MSIP_Label_d132b298-d092-4ba9-a1be-2a4de4a74ea4_ActionId">
    <vt:lpwstr>37695e36-8f80-4ae5-95eb-b3f21e3bbb2a</vt:lpwstr>
  </property>
  <property fmtid="{D5CDD505-2E9C-101B-9397-08002B2CF9AE}" pid="13" name="MSIP_Label_d132b298-d092-4ba9-a1be-2a4de4a74ea4_ContentBits">
    <vt:lpwstr>0</vt:lpwstr>
  </property>
</Properties>
</file>